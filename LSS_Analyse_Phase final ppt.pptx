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152" autoAdjust="0"/>
    <p:restoredTop sz="94610"/>
  </p:normalViewPr>
  <p:slideViewPr>
    <p:cSldViewPr snapToGrid="0" snapToObjects="1">
      <p:cViewPr varScale="1">
        <p:scale>
          <a:sx n="85" d="100"/>
          <a:sy n="85" d="100"/>
        </p:scale>
        <p:origin x="56"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46698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4227690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B4A"/>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2563A8"/>
          </a:solidFill>
          <a:ln w="12700">
            <a:solidFill>
              <a:srgbClr val="2563A8"/>
            </a:solidFill>
            <a:prstDash val="solid"/>
          </a:ln>
        </p:spPr>
        <p:txBody>
          <a:bodyPr/>
          <a:lstStyle/>
          <a:p>
            <a:endParaRPr lang="en-IN"/>
          </a:p>
        </p:txBody>
      </p:sp>
      <p:pic>
        <p:nvPicPr>
          <p:cNvPr id="3" name="Image 0" descr="preencoded.png"/>
          <p:cNvPicPr>
            <a:picLocks noChangeAspect="1"/>
          </p:cNvPicPr>
          <p:nvPr/>
        </p:nvPicPr>
        <p:blipFill>
          <a:blip r:embed="rId3"/>
          <a:stretch>
            <a:fillRect/>
          </a:stretch>
        </p:blipFill>
        <p:spPr>
          <a:xfrm>
            <a:off x="7635240" y="176349"/>
            <a:ext cx="1307670" cy="1143000"/>
          </a:xfrm>
          <a:prstGeom prst="rect">
            <a:avLst/>
          </a:prstGeom>
        </p:spPr>
      </p:pic>
      <p:sp>
        <p:nvSpPr>
          <p:cNvPr id="4" name="Text 1"/>
          <p:cNvSpPr/>
          <p:nvPr/>
        </p:nvSpPr>
        <p:spPr>
          <a:xfrm>
            <a:off x="548640" y="731520"/>
            <a:ext cx="6858000" cy="640080"/>
          </a:xfrm>
          <a:prstGeom prst="rect">
            <a:avLst/>
          </a:prstGeom>
          <a:noFill/>
          <a:ln/>
        </p:spPr>
        <p:txBody>
          <a:bodyPr wrap="square" lIns="0" tIns="0" rIns="0" bIns="0" rtlCol="0" anchor="ctr"/>
          <a:lstStyle/>
          <a:p>
            <a:pPr marL="0" indent="0">
              <a:buNone/>
            </a:pPr>
            <a:r>
              <a:rPr lang="en-US" sz="2800" b="1" dirty="0">
                <a:solidFill>
                  <a:srgbClr val="0D9488"/>
                </a:solidFill>
                <a:latin typeface="Calibri" pitchFamily="34" charset="0"/>
                <a:ea typeface="Calibri" pitchFamily="34" charset="-122"/>
                <a:cs typeface="Calibri" pitchFamily="34" charset="-120"/>
              </a:rPr>
              <a:t>MS491-XVI</a:t>
            </a:r>
            <a:endParaRPr lang="en-US" sz="2800" dirty="0"/>
          </a:p>
        </p:txBody>
      </p:sp>
      <p:sp>
        <p:nvSpPr>
          <p:cNvPr id="5" name="Text 2"/>
          <p:cNvSpPr/>
          <p:nvPr/>
        </p:nvSpPr>
        <p:spPr>
          <a:xfrm>
            <a:off x="548640" y="1325880"/>
            <a:ext cx="6858000" cy="5943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Lean Six Sigma</a:t>
            </a:r>
            <a:endParaRPr lang="en-US" sz="3200" dirty="0"/>
          </a:p>
        </p:txBody>
      </p:sp>
      <p:sp>
        <p:nvSpPr>
          <p:cNvPr id="6" name="Text 3"/>
          <p:cNvSpPr/>
          <p:nvPr/>
        </p:nvSpPr>
        <p:spPr>
          <a:xfrm>
            <a:off x="548640" y="1874520"/>
            <a:ext cx="6858000" cy="5943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Analyse Phase</a:t>
            </a:r>
            <a:endParaRPr lang="en-US" sz="3200" dirty="0"/>
          </a:p>
        </p:txBody>
      </p:sp>
      <p:sp>
        <p:nvSpPr>
          <p:cNvPr id="7" name="Shape 4"/>
          <p:cNvSpPr/>
          <p:nvPr/>
        </p:nvSpPr>
        <p:spPr>
          <a:xfrm>
            <a:off x="548640" y="2606040"/>
            <a:ext cx="8046720" cy="36576"/>
          </a:xfrm>
          <a:prstGeom prst="rect">
            <a:avLst/>
          </a:prstGeom>
          <a:solidFill>
            <a:srgbClr val="0D9488"/>
          </a:solidFill>
          <a:ln w="12700">
            <a:solidFill>
              <a:srgbClr val="0D9488"/>
            </a:solidFill>
            <a:prstDash val="solid"/>
          </a:ln>
        </p:spPr>
        <p:txBody>
          <a:bodyPr/>
          <a:lstStyle/>
          <a:p>
            <a:endParaRPr lang="en-IN"/>
          </a:p>
        </p:txBody>
      </p:sp>
      <p:sp>
        <p:nvSpPr>
          <p:cNvPr id="8" name="Text 5"/>
          <p:cNvSpPr/>
          <p:nvPr/>
        </p:nvSpPr>
        <p:spPr>
          <a:xfrm>
            <a:off x="548640" y="2743200"/>
            <a:ext cx="8046720" cy="457200"/>
          </a:xfrm>
          <a:prstGeom prst="rect">
            <a:avLst/>
          </a:prstGeom>
          <a:noFill/>
          <a:ln/>
        </p:spPr>
        <p:txBody>
          <a:bodyPr wrap="square" lIns="0" tIns="0" rIns="0" bIns="0" rtlCol="0" anchor="ctr"/>
          <a:lstStyle/>
          <a:p>
            <a:pPr marL="0" indent="0">
              <a:buNone/>
            </a:pPr>
            <a:r>
              <a:rPr lang="en-US" sz="1600" i="1" dirty="0">
                <a:solidFill>
                  <a:srgbClr val="F0F4FF"/>
                </a:solidFill>
                <a:latin typeface="Calibri" pitchFamily="34" charset="0"/>
                <a:ea typeface="Calibri" pitchFamily="34" charset="-122"/>
                <a:cs typeface="Calibri" pitchFamily="34" charset="-120"/>
              </a:rPr>
              <a:t>Discovering the Drivers of Deployment Delays (LT vs. HT Focus)</a:t>
            </a:r>
            <a:endParaRPr lang="en-US" sz="1600" dirty="0"/>
          </a:p>
        </p:txBody>
      </p:sp>
      <p:sp>
        <p:nvSpPr>
          <p:cNvPr id="9" name="Text 6"/>
          <p:cNvSpPr/>
          <p:nvPr/>
        </p:nvSpPr>
        <p:spPr>
          <a:xfrm>
            <a:off x="548640" y="3337560"/>
            <a:ext cx="8046720" cy="365760"/>
          </a:xfrm>
          <a:prstGeom prst="rect">
            <a:avLst/>
          </a:prstGeom>
          <a:noFill/>
          <a:ln/>
        </p:spPr>
        <p:txBody>
          <a:bodyPr wrap="square" lIns="0" tIns="0" rIns="0" bIns="0" rtlCol="0" anchor="ctr"/>
          <a:lstStyle/>
          <a:p>
            <a:pPr marL="0" indent="0">
              <a:buNone/>
            </a:pPr>
            <a:r>
              <a:rPr lang="en-US" sz="1300" dirty="0">
                <a:solidFill>
                  <a:srgbClr val="A8C4E8"/>
                </a:solidFill>
                <a:latin typeface="Calibri" pitchFamily="34" charset="0"/>
                <a:ea typeface="Calibri" pitchFamily="34" charset="-122"/>
                <a:cs typeface="Calibri" pitchFamily="34" charset="-120"/>
              </a:rPr>
              <a:t>Project: Optimising EV Charging Station Deployment</a:t>
            </a:r>
            <a:endParaRPr lang="en-US" sz="1300" dirty="0"/>
          </a:p>
        </p:txBody>
      </p:sp>
      <p:sp>
        <p:nvSpPr>
          <p:cNvPr id="10" name="Shape 7"/>
          <p:cNvSpPr/>
          <p:nvPr/>
        </p:nvSpPr>
        <p:spPr>
          <a:xfrm>
            <a:off x="548640" y="3886200"/>
            <a:ext cx="3840480" cy="822960"/>
          </a:xfrm>
          <a:prstGeom prst="rect">
            <a:avLst/>
          </a:prstGeom>
          <a:solidFill>
            <a:srgbClr val="2563A8">
              <a:alpha val="30000"/>
            </a:srgbClr>
          </a:solidFill>
          <a:ln w="12700">
            <a:solidFill>
              <a:srgbClr val="2563A8"/>
            </a:solidFill>
            <a:prstDash val="solid"/>
          </a:ln>
        </p:spPr>
        <p:txBody>
          <a:bodyPr/>
          <a:lstStyle/>
          <a:p>
            <a:endParaRPr lang="en-IN"/>
          </a:p>
        </p:txBody>
      </p:sp>
      <p:sp>
        <p:nvSpPr>
          <p:cNvPr id="11" name="Text 8"/>
          <p:cNvSpPr/>
          <p:nvPr/>
        </p:nvSpPr>
        <p:spPr>
          <a:xfrm>
            <a:off x="685800" y="3950208"/>
            <a:ext cx="3657600" cy="6858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Team 1</a:t>
            </a:r>
            <a:endParaRPr lang="en-US" sz="1300" dirty="0"/>
          </a:p>
          <a:p>
            <a:pPr marL="0" indent="0">
              <a:buNone/>
            </a:pPr>
            <a:r>
              <a:rPr lang="en-US" sz="1100" dirty="0">
                <a:solidFill>
                  <a:srgbClr val="A8C4E8"/>
                </a:solidFill>
                <a:latin typeface="Calibri" pitchFamily="34" charset="0"/>
                <a:ea typeface="Calibri" pitchFamily="34" charset="-122"/>
                <a:cs typeface="Calibri" pitchFamily="34" charset="-120"/>
              </a:rPr>
              <a:t>MS491-XVI  ·  Analyse Phase Presentation</a:t>
            </a:r>
            <a:endParaRPr lang="en-US" sz="1300" dirty="0"/>
          </a:p>
        </p:txBody>
      </p:sp>
      <p:sp>
        <p:nvSpPr>
          <p:cNvPr id="12" name="Text 9"/>
          <p:cNvSpPr/>
          <p:nvPr/>
        </p:nvSpPr>
        <p:spPr>
          <a:xfrm>
            <a:off x="5943600" y="4389120"/>
            <a:ext cx="2743200" cy="457200"/>
          </a:xfrm>
          <a:prstGeom prst="rect">
            <a:avLst/>
          </a:prstGeom>
          <a:noFill/>
          <a:ln/>
        </p:spPr>
        <p:txBody>
          <a:bodyPr wrap="square" lIns="0" tIns="0" rIns="0" bIns="0" rtlCol="0" anchor="ctr"/>
          <a:lstStyle/>
          <a:p>
            <a:pPr marL="0" indent="0" algn="r">
              <a:buNone/>
            </a:pPr>
            <a:r>
              <a:rPr lang="en-US" sz="2200" b="1" kern="0" spc="800" dirty="0">
                <a:solidFill>
                  <a:srgbClr val="0D9488"/>
                </a:solidFill>
                <a:latin typeface="Calibri" pitchFamily="34" charset="0"/>
                <a:ea typeface="Calibri" pitchFamily="34" charset="-122"/>
                <a:cs typeface="Calibri" pitchFamily="34" charset="-120"/>
              </a:rPr>
              <a:t>D  M  A  I  C</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371600"/>
          </a:xfrm>
          <a:prstGeom prst="rect">
            <a:avLst/>
          </a:prstGeom>
          <a:solidFill>
            <a:srgbClr val="1C2B4A"/>
          </a:solidFill>
          <a:ln w="12700">
            <a:solidFill>
              <a:srgbClr val="1C2B4A"/>
            </a:solidFill>
            <a:prstDash val="solid"/>
          </a:ln>
        </p:spPr>
        <p:txBody>
          <a:bodyPr/>
          <a:lstStyle/>
          <a:p>
            <a:endParaRPr lang="en-IN"/>
          </a:p>
        </p:txBody>
      </p:sp>
      <p:sp>
        <p:nvSpPr>
          <p:cNvPr id="3" name="Text 1"/>
          <p:cNvSpPr/>
          <p:nvPr/>
        </p:nvSpPr>
        <p:spPr>
          <a:xfrm>
            <a:off x="365760" y="73152"/>
            <a:ext cx="7132320"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PROJECT OVERVIEW — Measure Phase Recap</a:t>
            </a:r>
            <a:endParaRPr lang="en-US" sz="1400" dirty="0"/>
          </a:p>
        </p:txBody>
      </p:sp>
      <p:sp>
        <p:nvSpPr>
          <p:cNvPr id="5" name="Shape 2"/>
          <p:cNvSpPr/>
          <p:nvPr/>
        </p:nvSpPr>
        <p:spPr>
          <a:xfrm>
            <a:off x="274320" y="438912"/>
            <a:ext cx="2743200" cy="868680"/>
          </a:xfrm>
          <a:prstGeom prst="rect">
            <a:avLst/>
          </a:prstGeom>
          <a:solidFill>
            <a:srgbClr val="2563A8">
              <a:alpha val="50000"/>
            </a:srgbClr>
          </a:solidFill>
          <a:ln w="12700">
            <a:solidFill>
              <a:srgbClr val="0D9488"/>
            </a:solidFill>
            <a:prstDash val="solid"/>
          </a:ln>
        </p:spPr>
        <p:txBody>
          <a:bodyPr/>
          <a:lstStyle/>
          <a:p>
            <a:endParaRPr lang="en-IN"/>
          </a:p>
        </p:txBody>
      </p:sp>
      <p:sp>
        <p:nvSpPr>
          <p:cNvPr id="6" name="Text 3"/>
          <p:cNvSpPr/>
          <p:nvPr/>
        </p:nvSpPr>
        <p:spPr>
          <a:xfrm>
            <a:off x="347472" y="457200"/>
            <a:ext cx="1005840" cy="804672"/>
          </a:xfrm>
          <a:prstGeom prst="rect">
            <a:avLst/>
          </a:prstGeom>
          <a:noFill/>
          <a:ln/>
        </p:spPr>
        <p:txBody>
          <a:bodyPr wrap="square" lIns="0" tIns="0" rIns="0" bIns="0" rtlCol="0" anchor="ctr"/>
          <a:lstStyle/>
          <a:p>
            <a:pPr marL="0" indent="0" algn="ctr">
              <a:buNone/>
            </a:pPr>
            <a:r>
              <a:rPr lang="en-US" sz="3400" b="1" dirty="0">
                <a:solidFill>
                  <a:srgbClr val="0D9488"/>
                </a:solidFill>
                <a:latin typeface="Calibri" pitchFamily="34" charset="0"/>
                <a:ea typeface="Calibri" pitchFamily="34" charset="-122"/>
                <a:cs typeface="Calibri" pitchFamily="34" charset="-120"/>
              </a:rPr>
              <a:t>105+</a:t>
            </a:r>
            <a:endParaRPr lang="en-US" sz="3400" dirty="0"/>
          </a:p>
        </p:txBody>
      </p:sp>
      <p:sp>
        <p:nvSpPr>
          <p:cNvPr id="7" name="Text 4"/>
          <p:cNvSpPr/>
          <p:nvPr/>
        </p:nvSpPr>
        <p:spPr>
          <a:xfrm>
            <a:off x="1426464" y="-292608"/>
            <a:ext cx="2211542" cy="2093976"/>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Days</a:t>
            </a:r>
            <a:endParaRPr lang="en-US" sz="1600" dirty="0"/>
          </a:p>
        </p:txBody>
      </p:sp>
      <p:sp>
        <p:nvSpPr>
          <p:cNvPr id="8" name="Text 5"/>
          <p:cNvSpPr/>
          <p:nvPr/>
        </p:nvSpPr>
        <p:spPr>
          <a:xfrm>
            <a:off x="1426464" y="804672"/>
            <a:ext cx="1362456" cy="457200"/>
          </a:xfrm>
          <a:prstGeom prst="rect">
            <a:avLst/>
          </a:prstGeom>
          <a:noFill/>
          <a:ln/>
        </p:spPr>
        <p:txBody>
          <a:bodyPr wrap="square" lIns="0" tIns="0" rIns="0" bIns="0" rtlCol="0" anchor="ctr"/>
          <a:lstStyle/>
          <a:p>
            <a:pPr marL="0" indent="0">
              <a:buNone/>
            </a:pPr>
            <a:r>
              <a:rPr lang="en-US" sz="900" dirty="0">
                <a:solidFill>
                  <a:srgbClr val="F0F4FF"/>
                </a:solidFill>
                <a:latin typeface="Calibri" pitchFamily="34" charset="0"/>
                <a:ea typeface="Calibri" pitchFamily="34" charset="-122"/>
                <a:cs typeface="Calibri" pitchFamily="34" charset="-120"/>
              </a:rPr>
              <a:t>Avg Setup Cycle Time (Y)</a:t>
            </a:r>
            <a:endParaRPr lang="en-US" sz="900" dirty="0"/>
          </a:p>
        </p:txBody>
      </p:sp>
      <p:sp>
        <p:nvSpPr>
          <p:cNvPr id="9" name="Shape 6"/>
          <p:cNvSpPr/>
          <p:nvPr/>
        </p:nvSpPr>
        <p:spPr>
          <a:xfrm>
            <a:off x="3227832" y="438912"/>
            <a:ext cx="2743200" cy="868680"/>
          </a:xfrm>
          <a:prstGeom prst="rect">
            <a:avLst/>
          </a:prstGeom>
          <a:solidFill>
            <a:srgbClr val="2563A8">
              <a:alpha val="50000"/>
            </a:srgbClr>
          </a:solidFill>
          <a:ln w="12700">
            <a:solidFill>
              <a:srgbClr val="0D9488"/>
            </a:solidFill>
            <a:prstDash val="solid"/>
          </a:ln>
        </p:spPr>
        <p:txBody>
          <a:bodyPr/>
          <a:lstStyle/>
          <a:p>
            <a:endParaRPr lang="en-IN"/>
          </a:p>
        </p:txBody>
      </p:sp>
      <p:sp>
        <p:nvSpPr>
          <p:cNvPr id="10" name="Text 7"/>
          <p:cNvSpPr/>
          <p:nvPr/>
        </p:nvSpPr>
        <p:spPr>
          <a:xfrm>
            <a:off x="3300984" y="507492"/>
            <a:ext cx="1005840" cy="754380"/>
          </a:xfrm>
          <a:prstGeom prst="rect">
            <a:avLst/>
          </a:prstGeom>
          <a:noFill/>
          <a:ln/>
        </p:spPr>
        <p:txBody>
          <a:bodyPr wrap="square" lIns="0" tIns="0" rIns="0" bIns="0" rtlCol="0" anchor="ctr"/>
          <a:lstStyle/>
          <a:p>
            <a:pPr marL="0" indent="0" algn="ctr">
              <a:buNone/>
            </a:pPr>
            <a:r>
              <a:rPr lang="en-US" sz="3400" b="1" dirty="0">
                <a:solidFill>
                  <a:srgbClr val="0D9488"/>
                </a:solidFill>
                <a:latin typeface="Calibri" pitchFamily="34" charset="0"/>
                <a:ea typeface="Calibri" pitchFamily="34" charset="-122"/>
                <a:cs typeface="Calibri" pitchFamily="34" charset="-120"/>
              </a:rPr>
              <a:t>85</a:t>
            </a:r>
            <a:endParaRPr lang="en-US" sz="3400" dirty="0"/>
          </a:p>
        </p:txBody>
      </p:sp>
      <p:sp>
        <p:nvSpPr>
          <p:cNvPr id="11" name="Text 8"/>
          <p:cNvSpPr/>
          <p:nvPr/>
        </p:nvSpPr>
        <p:spPr>
          <a:xfrm>
            <a:off x="4279392" y="475488"/>
            <a:ext cx="1463040" cy="51075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Days</a:t>
            </a:r>
            <a:endParaRPr lang="en-US" sz="1600" dirty="0"/>
          </a:p>
        </p:txBody>
      </p:sp>
      <p:sp>
        <p:nvSpPr>
          <p:cNvPr id="12" name="Text 9"/>
          <p:cNvSpPr/>
          <p:nvPr/>
        </p:nvSpPr>
        <p:spPr>
          <a:xfrm>
            <a:off x="4279392" y="804672"/>
            <a:ext cx="1463040" cy="457200"/>
          </a:xfrm>
          <a:prstGeom prst="rect">
            <a:avLst/>
          </a:prstGeom>
          <a:noFill/>
          <a:ln/>
        </p:spPr>
        <p:txBody>
          <a:bodyPr wrap="square" lIns="0" tIns="0" rIns="0" bIns="0" rtlCol="0" anchor="ctr"/>
          <a:lstStyle/>
          <a:p>
            <a:pPr marL="0" indent="0">
              <a:buNone/>
            </a:pPr>
            <a:r>
              <a:rPr lang="en-US" sz="900" dirty="0">
                <a:solidFill>
                  <a:srgbClr val="F0F4FF"/>
                </a:solidFill>
                <a:latin typeface="Calibri" pitchFamily="34" charset="0"/>
                <a:ea typeface="Calibri" pitchFamily="34" charset="-122"/>
                <a:cs typeface="Calibri" pitchFamily="34" charset="-120"/>
              </a:rPr>
              <a:t>Non-Value-Added Waiting (Muda)</a:t>
            </a:r>
            <a:endParaRPr lang="en-US" sz="900" dirty="0"/>
          </a:p>
        </p:txBody>
      </p:sp>
      <p:sp>
        <p:nvSpPr>
          <p:cNvPr id="13" name="Shape 10"/>
          <p:cNvSpPr/>
          <p:nvPr/>
        </p:nvSpPr>
        <p:spPr>
          <a:xfrm>
            <a:off x="6181344" y="438912"/>
            <a:ext cx="2743200" cy="868680"/>
          </a:xfrm>
          <a:prstGeom prst="rect">
            <a:avLst/>
          </a:prstGeom>
          <a:solidFill>
            <a:srgbClr val="2563A8">
              <a:alpha val="50000"/>
            </a:srgbClr>
          </a:solidFill>
          <a:ln w="12700">
            <a:solidFill>
              <a:srgbClr val="0D9488"/>
            </a:solidFill>
            <a:prstDash val="solid"/>
          </a:ln>
        </p:spPr>
        <p:txBody>
          <a:bodyPr/>
          <a:lstStyle/>
          <a:p>
            <a:endParaRPr lang="en-IN"/>
          </a:p>
        </p:txBody>
      </p:sp>
      <p:sp>
        <p:nvSpPr>
          <p:cNvPr id="14" name="Text 11"/>
          <p:cNvSpPr/>
          <p:nvPr/>
        </p:nvSpPr>
        <p:spPr>
          <a:xfrm>
            <a:off x="6254496" y="457200"/>
            <a:ext cx="1005840" cy="804672"/>
          </a:xfrm>
          <a:prstGeom prst="rect">
            <a:avLst/>
          </a:prstGeom>
          <a:noFill/>
          <a:ln/>
        </p:spPr>
        <p:txBody>
          <a:bodyPr wrap="square" lIns="0" tIns="0" rIns="0" bIns="0" rtlCol="0" anchor="ctr"/>
          <a:lstStyle/>
          <a:p>
            <a:pPr marL="0" indent="0" algn="ctr">
              <a:buNone/>
            </a:pPr>
            <a:r>
              <a:rPr lang="en-US" sz="3400" b="1" dirty="0">
                <a:solidFill>
                  <a:srgbClr val="0D9488"/>
                </a:solidFill>
                <a:latin typeface="Calibri" pitchFamily="34" charset="0"/>
                <a:ea typeface="Calibri" pitchFamily="34" charset="-122"/>
                <a:cs typeface="Calibri" pitchFamily="34" charset="-120"/>
              </a:rPr>
              <a:t>4</a:t>
            </a:r>
            <a:endParaRPr lang="en-US" sz="3400" dirty="0"/>
          </a:p>
        </p:txBody>
      </p:sp>
      <p:sp>
        <p:nvSpPr>
          <p:cNvPr id="15" name="Text 12"/>
          <p:cNvSpPr/>
          <p:nvPr/>
        </p:nvSpPr>
        <p:spPr>
          <a:xfrm>
            <a:off x="7232904" y="475488"/>
            <a:ext cx="1463040" cy="51075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Key Variables</a:t>
            </a:r>
            <a:endParaRPr lang="en-US" sz="1600" dirty="0"/>
          </a:p>
        </p:txBody>
      </p:sp>
      <p:sp>
        <p:nvSpPr>
          <p:cNvPr id="16" name="Text 13"/>
          <p:cNvSpPr/>
          <p:nvPr/>
        </p:nvSpPr>
        <p:spPr>
          <a:xfrm>
            <a:off x="7232904" y="804672"/>
            <a:ext cx="1463040" cy="457200"/>
          </a:xfrm>
          <a:prstGeom prst="rect">
            <a:avLst/>
          </a:prstGeom>
          <a:noFill/>
          <a:ln/>
        </p:spPr>
        <p:txBody>
          <a:bodyPr wrap="square" lIns="0" tIns="0" rIns="0" bIns="0" rtlCol="0" anchor="ctr"/>
          <a:lstStyle/>
          <a:p>
            <a:pPr marL="0" indent="0">
              <a:buNone/>
            </a:pPr>
            <a:r>
              <a:rPr lang="en-US" sz="900" dirty="0">
                <a:solidFill>
                  <a:srgbClr val="F0F4FF"/>
                </a:solidFill>
                <a:latin typeface="Calibri" pitchFamily="34" charset="0"/>
                <a:ea typeface="Calibri" pitchFamily="34" charset="-122"/>
                <a:cs typeface="Calibri" pitchFamily="34" charset="-120"/>
              </a:rPr>
              <a:t>Evaluated Bottlenecks (x₂ to x₄)</a:t>
            </a:r>
            <a:endParaRPr lang="en-US" sz="900" dirty="0"/>
          </a:p>
        </p:txBody>
      </p:sp>
      <p:sp>
        <p:nvSpPr>
          <p:cNvPr id="17" name="Shape 14"/>
          <p:cNvSpPr/>
          <p:nvPr/>
        </p:nvSpPr>
        <p:spPr>
          <a:xfrm>
            <a:off x="274320" y="1508760"/>
            <a:ext cx="8595360" cy="804672"/>
          </a:xfrm>
          <a:prstGeom prst="rect">
            <a:avLst/>
          </a:prstGeom>
          <a:solidFill>
            <a:srgbClr val="FFFFFF"/>
          </a:solidFill>
          <a:ln w="12700">
            <a:solidFill>
              <a:srgbClr val="2563A8"/>
            </a:solidFill>
            <a:prstDash val="solid"/>
          </a:ln>
        </p:spPr>
        <p:txBody>
          <a:bodyPr/>
          <a:lstStyle/>
          <a:p>
            <a:endParaRPr lang="en-IN"/>
          </a:p>
        </p:txBody>
      </p:sp>
      <p:sp>
        <p:nvSpPr>
          <p:cNvPr id="18" name="Text 15"/>
          <p:cNvSpPr/>
          <p:nvPr/>
        </p:nvSpPr>
        <p:spPr>
          <a:xfrm>
            <a:off x="411480" y="1554480"/>
            <a:ext cx="2286000" cy="256032"/>
          </a:xfrm>
          <a:prstGeom prst="rect">
            <a:avLst/>
          </a:prstGeom>
          <a:noFill/>
          <a:ln/>
        </p:spPr>
        <p:txBody>
          <a:bodyPr wrap="square" lIns="0" tIns="0" rIns="0" bIns="0" rtlCol="0" anchor="ctr"/>
          <a:lstStyle/>
          <a:p>
            <a:pPr marL="0" indent="0">
              <a:buNone/>
            </a:pPr>
            <a:r>
              <a:rPr lang="en-US" sz="1100" b="1" dirty="0">
                <a:solidFill>
                  <a:srgbClr val="2563A8"/>
                </a:solidFill>
                <a:latin typeface="Calibri" pitchFamily="34" charset="0"/>
                <a:ea typeface="Calibri" pitchFamily="34" charset="-122"/>
                <a:cs typeface="Calibri" pitchFamily="34" charset="-120"/>
              </a:rPr>
              <a:t>Project Objective</a:t>
            </a:r>
            <a:endParaRPr lang="en-US" sz="1100" dirty="0"/>
          </a:p>
        </p:txBody>
      </p:sp>
      <p:sp>
        <p:nvSpPr>
          <p:cNvPr id="19" name="Text 16"/>
          <p:cNvSpPr/>
          <p:nvPr/>
        </p:nvSpPr>
        <p:spPr>
          <a:xfrm>
            <a:off x="411480" y="1801368"/>
            <a:ext cx="8321040" cy="457200"/>
          </a:xfrm>
          <a:prstGeom prst="rect">
            <a:avLst/>
          </a:prstGeom>
          <a:noFill/>
          <a:ln/>
        </p:spPr>
        <p:txBody>
          <a:bodyPr wrap="square" lIns="0" tIns="0" rIns="0" bIns="0" rtlCol="0" anchor="ctr"/>
          <a:lstStyle/>
          <a:p>
            <a:pPr marL="0" indent="0">
              <a:buNone/>
            </a:pPr>
            <a:r>
              <a:rPr lang="en-US" sz="1050" dirty="0">
                <a:solidFill>
                  <a:srgbClr val="1E2761"/>
                </a:solidFill>
                <a:latin typeface="Calibri" pitchFamily="34" charset="0"/>
                <a:ea typeface="Calibri" pitchFamily="34" charset="-122"/>
                <a:cs typeface="Calibri" pitchFamily="34" charset="-120"/>
              </a:rPr>
              <a:t>Establish a robust baseline performance of the current EV charging station setup process to identify root causes of severe cycle-time delays, and develop data-driven recommendations to stabilize and reduce deployment time.</a:t>
            </a:r>
            <a:endParaRPr lang="en-US" sz="1050" dirty="0"/>
          </a:p>
        </p:txBody>
      </p:sp>
      <p:sp>
        <p:nvSpPr>
          <p:cNvPr id="20" name="Text 17"/>
          <p:cNvSpPr/>
          <p:nvPr/>
        </p:nvSpPr>
        <p:spPr>
          <a:xfrm>
            <a:off x="274320" y="2423160"/>
            <a:ext cx="3657600" cy="274320"/>
          </a:xfrm>
          <a:prstGeom prst="rect">
            <a:avLst/>
          </a:prstGeom>
          <a:noFill/>
          <a:ln/>
        </p:spPr>
        <p:txBody>
          <a:bodyPr wrap="square" lIns="0" tIns="0" rIns="0" bIns="0"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Key Baseline Insights</a:t>
            </a:r>
            <a:endParaRPr lang="en-US" sz="1200" dirty="0"/>
          </a:p>
        </p:txBody>
      </p:sp>
      <p:sp>
        <p:nvSpPr>
          <p:cNvPr id="21" name="Shape 18"/>
          <p:cNvSpPr/>
          <p:nvPr/>
        </p:nvSpPr>
        <p:spPr>
          <a:xfrm>
            <a:off x="274320" y="2788920"/>
            <a:ext cx="54864" cy="502920"/>
          </a:xfrm>
          <a:prstGeom prst="rect">
            <a:avLst/>
          </a:prstGeom>
          <a:solidFill>
            <a:srgbClr val="0D9488"/>
          </a:solidFill>
          <a:ln w="12700">
            <a:solidFill>
              <a:srgbClr val="0D9488"/>
            </a:solidFill>
            <a:prstDash val="solid"/>
          </a:ln>
        </p:spPr>
        <p:txBody>
          <a:bodyPr/>
          <a:lstStyle/>
          <a:p>
            <a:endParaRPr lang="en-IN"/>
          </a:p>
        </p:txBody>
      </p:sp>
      <p:sp>
        <p:nvSpPr>
          <p:cNvPr id="22" name="Text 19"/>
          <p:cNvSpPr/>
          <p:nvPr/>
        </p:nvSpPr>
        <p:spPr>
          <a:xfrm>
            <a:off x="457200" y="2807208"/>
            <a:ext cx="1645920" cy="228600"/>
          </a:xfrm>
          <a:prstGeom prst="rect">
            <a:avLst/>
          </a:prstGeom>
          <a:noFill/>
          <a:ln/>
        </p:spPr>
        <p:txBody>
          <a:bodyPr wrap="square" lIns="0" tIns="0" rIns="0" bIns="0" rtlCol="0" anchor="ctr"/>
          <a:lstStyle/>
          <a:p>
            <a:pPr marL="0" indent="0">
              <a:buNone/>
            </a:pPr>
            <a:r>
              <a:rPr lang="en-US" sz="1000" b="1" dirty="0">
                <a:solidFill>
                  <a:srgbClr val="2563A8"/>
                </a:solidFill>
                <a:latin typeface="Calibri" pitchFamily="34" charset="0"/>
                <a:ea typeface="Calibri" pitchFamily="34" charset="-122"/>
                <a:cs typeface="Calibri" pitchFamily="34" charset="-120"/>
              </a:rPr>
              <a:t>DISCOM Delays (x₂):</a:t>
            </a:r>
            <a:endParaRPr lang="en-US" sz="1000" dirty="0"/>
          </a:p>
        </p:txBody>
      </p:sp>
      <p:sp>
        <p:nvSpPr>
          <p:cNvPr id="23" name="Text 20"/>
          <p:cNvSpPr/>
          <p:nvPr/>
        </p:nvSpPr>
        <p:spPr>
          <a:xfrm>
            <a:off x="457200" y="3026664"/>
            <a:ext cx="8229600" cy="292608"/>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A severe lack of upfront grid-capacity analysis frequently forces 90-day High Tension (HT) transformer augmentations, rather than utilising existing 30-day Low Tension (LT) connections.</a:t>
            </a:r>
            <a:endParaRPr lang="en-US" sz="950" dirty="0"/>
          </a:p>
        </p:txBody>
      </p:sp>
      <p:sp>
        <p:nvSpPr>
          <p:cNvPr id="24" name="Shape 21"/>
          <p:cNvSpPr/>
          <p:nvPr/>
        </p:nvSpPr>
        <p:spPr>
          <a:xfrm>
            <a:off x="274320" y="3447288"/>
            <a:ext cx="54864" cy="502920"/>
          </a:xfrm>
          <a:prstGeom prst="rect">
            <a:avLst/>
          </a:prstGeom>
          <a:solidFill>
            <a:srgbClr val="0D9488"/>
          </a:solidFill>
          <a:ln w="12700">
            <a:solidFill>
              <a:srgbClr val="0D9488"/>
            </a:solidFill>
            <a:prstDash val="solid"/>
          </a:ln>
        </p:spPr>
        <p:txBody>
          <a:bodyPr/>
          <a:lstStyle/>
          <a:p>
            <a:endParaRPr lang="en-IN"/>
          </a:p>
        </p:txBody>
      </p:sp>
      <p:sp>
        <p:nvSpPr>
          <p:cNvPr id="25" name="Text 22"/>
          <p:cNvSpPr/>
          <p:nvPr/>
        </p:nvSpPr>
        <p:spPr>
          <a:xfrm>
            <a:off x="457200" y="3465576"/>
            <a:ext cx="1645920" cy="228600"/>
          </a:xfrm>
          <a:prstGeom prst="rect">
            <a:avLst/>
          </a:prstGeom>
          <a:noFill/>
          <a:ln/>
        </p:spPr>
        <p:txBody>
          <a:bodyPr wrap="square" lIns="0" tIns="0" rIns="0" bIns="0" rtlCol="0" anchor="ctr"/>
          <a:lstStyle/>
          <a:p>
            <a:pPr marL="0" indent="0">
              <a:buNone/>
            </a:pPr>
            <a:r>
              <a:rPr lang="en-US" sz="1000" b="1" dirty="0">
                <a:solidFill>
                  <a:srgbClr val="2563A8"/>
                </a:solidFill>
                <a:latin typeface="Calibri" pitchFamily="34" charset="0"/>
                <a:ea typeface="Calibri" pitchFamily="34" charset="-122"/>
                <a:cs typeface="Calibri" pitchFamily="34" charset="-120"/>
              </a:rPr>
              <a:t>Municipal Friction (x₄):</a:t>
            </a:r>
            <a:endParaRPr lang="en-US" sz="1000" dirty="0"/>
          </a:p>
        </p:txBody>
      </p:sp>
      <p:sp>
        <p:nvSpPr>
          <p:cNvPr id="26" name="Text 23"/>
          <p:cNvSpPr/>
          <p:nvPr/>
        </p:nvSpPr>
        <p:spPr>
          <a:xfrm>
            <a:off x="457200" y="3685032"/>
            <a:ext cx="8229600" cy="292608"/>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While physical civil work takes only 12 days, SLA "blindspots" in local municipal NOCs (Fire, Parking, Right-of-Way) cause highly variable, unpredictable administrative wait times.</a:t>
            </a:r>
            <a:endParaRPr lang="en-US" sz="950" dirty="0"/>
          </a:p>
        </p:txBody>
      </p:sp>
      <p:sp>
        <p:nvSpPr>
          <p:cNvPr id="27" name="Shape 24"/>
          <p:cNvSpPr/>
          <p:nvPr/>
        </p:nvSpPr>
        <p:spPr>
          <a:xfrm>
            <a:off x="274320" y="4105656"/>
            <a:ext cx="54864" cy="502920"/>
          </a:xfrm>
          <a:prstGeom prst="rect">
            <a:avLst/>
          </a:prstGeom>
          <a:solidFill>
            <a:srgbClr val="0D9488"/>
          </a:solidFill>
          <a:ln w="12700">
            <a:solidFill>
              <a:srgbClr val="0D9488"/>
            </a:solidFill>
            <a:prstDash val="solid"/>
          </a:ln>
        </p:spPr>
        <p:txBody>
          <a:bodyPr/>
          <a:lstStyle/>
          <a:p>
            <a:endParaRPr lang="en-IN"/>
          </a:p>
        </p:txBody>
      </p:sp>
      <p:sp>
        <p:nvSpPr>
          <p:cNvPr id="28" name="Text 25"/>
          <p:cNvSpPr/>
          <p:nvPr/>
        </p:nvSpPr>
        <p:spPr>
          <a:xfrm>
            <a:off x="457200" y="4123944"/>
            <a:ext cx="1645920" cy="228600"/>
          </a:xfrm>
          <a:prstGeom prst="rect">
            <a:avLst/>
          </a:prstGeom>
          <a:noFill/>
          <a:ln/>
        </p:spPr>
        <p:txBody>
          <a:bodyPr wrap="square" lIns="0" tIns="0" rIns="0" bIns="0" rtlCol="0" anchor="ctr"/>
          <a:lstStyle/>
          <a:p>
            <a:pPr marL="0" indent="0">
              <a:buNone/>
            </a:pPr>
            <a:r>
              <a:rPr lang="en-US" sz="1000" b="1" dirty="0">
                <a:solidFill>
                  <a:srgbClr val="2563A8"/>
                </a:solidFill>
                <a:latin typeface="Calibri" pitchFamily="34" charset="0"/>
                <a:ea typeface="Calibri" pitchFamily="34" charset="-122"/>
                <a:cs typeface="Calibri" pitchFamily="34" charset="-120"/>
              </a:rPr>
              <a:t>Extreme Process Variation:</a:t>
            </a:r>
            <a:endParaRPr lang="en-US" sz="1000" dirty="0"/>
          </a:p>
        </p:txBody>
      </p:sp>
      <p:sp>
        <p:nvSpPr>
          <p:cNvPr id="29" name="Text 26"/>
          <p:cNvSpPr/>
          <p:nvPr/>
        </p:nvSpPr>
        <p:spPr>
          <a:xfrm>
            <a:off x="457200" y="4343400"/>
            <a:ext cx="8229600" cy="292608"/>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National setup capability is completely unstandardized. Cycle times vary widely geographically (e.g., streamlined in Gujarat under GERC rules vs. severe delays in Karnataka and UP).</a:t>
            </a:r>
            <a:endParaRPr lang="en-US" sz="950" dirty="0"/>
          </a:p>
        </p:txBody>
      </p:sp>
      <p:sp>
        <p:nvSpPr>
          <p:cNvPr id="30" name="Shape 27"/>
          <p:cNvSpPr/>
          <p:nvPr/>
        </p:nvSpPr>
        <p:spPr>
          <a:xfrm>
            <a:off x="0" y="4846320"/>
            <a:ext cx="9144000" cy="297180"/>
          </a:xfrm>
          <a:prstGeom prst="rect">
            <a:avLst/>
          </a:prstGeom>
          <a:solidFill>
            <a:srgbClr val="1C2B4A"/>
          </a:solidFill>
          <a:ln w="12700">
            <a:solidFill>
              <a:srgbClr val="1C2B4A"/>
            </a:solidFill>
            <a:prstDash val="solid"/>
          </a:ln>
        </p:spPr>
        <p:txBody>
          <a:bodyPr/>
          <a:lstStyle/>
          <a:p>
            <a:endParaRPr lang="en-IN"/>
          </a:p>
        </p:txBody>
      </p:sp>
      <p:sp>
        <p:nvSpPr>
          <p:cNvPr id="31" name="Text 28"/>
          <p:cNvSpPr/>
          <p:nvPr/>
        </p:nvSpPr>
        <p:spPr>
          <a:xfrm>
            <a:off x="182880" y="4873752"/>
            <a:ext cx="8778240" cy="246888"/>
          </a:xfrm>
          <a:prstGeom prst="rect">
            <a:avLst/>
          </a:prstGeom>
          <a:noFill/>
          <a:ln/>
        </p:spPr>
        <p:txBody>
          <a:bodyPr wrap="square" lIns="0" tIns="0" rIns="0" bIns="0" rtlCol="0" anchor="ctr"/>
          <a:lstStyle/>
          <a:p>
            <a:pPr marL="0" indent="0">
              <a:buNone/>
            </a:pPr>
            <a:r>
              <a:rPr lang="en-US" sz="800" dirty="0">
                <a:solidFill>
                  <a:srgbClr val="A8C4E8"/>
                </a:solidFill>
                <a:latin typeface="Calibri" pitchFamily="34" charset="0"/>
                <a:ea typeface="Calibri" pitchFamily="34" charset="-122"/>
                <a:cs typeface="Calibri" pitchFamily="34" charset="-120"/>
              </a:rPr>
              <a:t>Data Sources: NITI Aayog EV Handbook  |  Observer Research Foundation (ORF)  |  Primary Gemba Interview: EV Fleet Operator  |  Scope: National EV Infrastructure</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C2B4A"/>
          </a:solidFill>
          <a:ln w="12700">
            <a:solidFill>
              <a:srgbClr val="1C2B4A"/>
            </a:solidFill>
            <a:prstDash val="solid"/>
          </a:ln>
        </p:spPr>
        <p:txBody>
          <a:bodyPr/>
          <a:lstStyle/>
          <a:p>
            <a:endParaRPr lang="en-IN"/>
          </a:p>
        </p:txBody>
      </p:sp>
      <p:sp>
        <p:nvSpPr>
          <p:cNvPr id="3" name="Text 1"/>
          <p:cNvSpPr/>
          <p:nvPr/>
        </p:nvSpPr>
        <p:spPr>
          <a:xfrm>
            <a:off x="274320" y="91440"/>
            <a:ext cx="713232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ANALYZE PHASE &amp; STAKEHOLDER EMPHASIS</a:t>
            </a:r>
            <a:endParaRPr lang="en-US" sz="1500" dirty="0"/>
          </a:p>
        </p:txBody>
      </p:sp>
      <p:sp>
        <p:nvSpPr>
          <p:cNvPr id="5" name="Shape 2"/>
          <p:cNvSpPr/>
          <p:nvPr/>
        </p:nvSpPr>
        <p:spPr>
          <a:xfrm>
            <a:off x="228600" y="658368"/>
            <a:ext cx="4160520" cy="292608"/>
          </a:xfrm>
          <a:prstGeom prst="rect">
            <a:avLst/>
          </a:prstGeom>
          <a:solidFill>
            <a:srgbClr val="2563A8"/>
          </a:solidFill>
          <a:ln w="12700">
            <a:solidFill>
              <a:srgbClr val="2563A8"/>
            </a:solidFill>
            <a:prstDash val="solid"/>
          </a:ln>
        </p:spPr>
        <p:txBody>
          <a:bodyPr/>
          <a:lstStyle/>
          <a:p>
            <a:endParaRPr lang="en-IN"/>
          </a:p>
        </p:txBody>
      </p:sp>
      <p:sp>
        <p:nvSpPr>
          <p:cNvPr id="6" name="Text 3"/>
          <p:cNvSpPr/>
          <p:nvPr/>
        </p:nvSpPr>
        <p:spPr>
          <a:xfrm>
            <a:off x="320040" y="667512"/>
            <a:ext cx="39776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What is the Analyse Phase?</a:t>
            </a:r>
            <a:endParaRPr lang="en-US" sz="1100" dirty="0"/>
          </a:p>
        </p:txBody>
      </p:sp>
      <p:sp>
        <p:nvSpPr>
          <p:cNvPr id="7" name="Text 4"/>
          <p:cNvSpPr/>
          <p:nvPr/>
        </p:nvSpPr>
        <p:spPr>
          <a:xfrm>
            <a:off x="228600" y="978408"/>
            <a:ext cx="4160520" cy="868680"/>
          </a:xfrm>
          <a:prstGeom prst="rect">
            <a:avLst/>
          </a:prstGeom>
          <a:noFill/>
          <a:ln/>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The Analyse Phase is the 'A' in the DMAIC roadmap. It transforms raw baseline data collected in the Measure phase into actionable insights. The objective is to discover, mathematically verify, and prioritise the root causes (x's) driving process defects, bureaucratic inefficiencies, and extreme cycle-time variation (Y).</a:t>
            </a:r>
            <a:endParaRPr lang="en-US" sz="1000" dirty="0"/>
          </a:p>
        </p:txBody>
      </p:sp>
      <p:sp>
        <p:nvSpPr>
          <p:cNvPr id="8" name="Shape 5"/>
          <p:cNvSpPr/>
          <p:nvPr/>
        </p:nvSpPr>
        <p:spPr>
          <a:xfrm>
            <a:off x="228600" y="1920240"/>
            <a:ext cx="4160520" cy="292608"/>
          </a:xfrm>
          <a:prstGeom prst="rect">
            <a:avLst/>
          </a:prstGeom>
          <a:solidFill>
            <a:srgbClr val="E07B39"/>
          </a:solidFill>
          <a:ln w="12700">
            <a:solidFill>
              <a:srgbClr val="E07B39"/>
            </a:solidFill>
            <a:prstDash val="solid"/>
          </a:ln>
        </p:spPr>
        <p:txBody>
          <a:bodyPr/>
          <a:lstStyle/>
          <a:p>
            <a:endParaRPr lang="en-IN"/>
          </a:p>
        </p:txBody>
      </p:sp>
      <p:sp>
        <p:nvSpPr>
          <p:cNvPr id="9" name="Text 6"/>
          <p:cNvSpPr/>
          <p:nvPr/>
        </p:nvSpPr>
        <p:spPr>
          <a:xfrm>
            <a:off x="320040" y="1929384"/>
            <a:ext cx="39776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Stakeholder Emphasis: The "Gemba" Insight</a:t>
            </a:r>
            <a:endParaRPr lang="en-US" sz="1100" dirty="0"/>
          </a:p>
        </p:txBody>
      </p:sp>
      <p:sp>
        <p:nvSpPr>
          <p:cNvPr id="10" name="Text 7"/>
          <p:cNvSpPr/>
          <p:nvPr/>
        </p:nvSpPr>
        <p:spPr>
          <a:xfrm>
            <a:off x="228600" y="2240280"/>
            <a:ext cx="4160520" cy="594360"/>
          </a:xfrm>
          <a:prstGeom prst="rect">
            <a:avLst/>
          </a:prstGeom>
          <a:noFill/>
          <a:ln/>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To validate baseline assumptions, our team conducted a primary stakeholder interview with an active EV Fleet Operator and Charging Station Provider. By going to the source ("Gemba"), we uncovered a critical operational reality:</a:t>
            </a:r>
            <a:endParaRPr lang="en-US" sz="1000" dirty="0"/>
          </a:p>
        </p:txBody>
      </p:sp>
      <p:sp>
        <p:nvSpPr>
          <p:cNvPr id="11" name="Shape 8"/>
          <p:cNvSpPr/>
          <p:nvPr/>
        </p:nvSpPr>
        <p:spPr>
          <a:xfrm>
            <a:off x="228600" y="2880360"/>
            <a:ext cx="54858" cy="539878"/>
          </a:xfrm>
          <a:prstGeom prst="rect">
            <a:avLst/>
          </a:prstGeom>
          <a:solidFill>
            <a:srgbClr val="E07B39"/>
          </a:solidFill>
          <a:ln w="12700">
            <a:solidFill>
              <a:srgbClr val="E07B39"/>
            </a:solidFill>
            <a:prstDash val="solid"/>
          </a:ln>
        </p:spPr>
        <p:txBody>
          <a:bodyPr/>
          <a:lstStyle/>
          <a:p>
            <a:endParaRPr lang="en-IN"/>
          </a:p>
        </p:txBody>
      </p:sp>
      <p:sp>
        <p:nvSpPr>
          <p:cNvPr id="12" name="Text 9"/>
          <p:cNvSpPr/>
          <p:nvPr/>
        </p:nvSpPr>
        <p:spPr>
          <a:xfrm>
            <a:off x="384048" y="2898648"/>
            <a:ext cx="3931920" cy="201168"/>
          </a:xfrm>
          <a:prstGeom prst="rect">
            <a:avLst/>
          </a:prstGeom>
          <a:noFill/>
          <a:ln/>
        </p:spPr>
        <p:txBody>
          <a:bodyPr wrap="square" lIns="0" tIns="0" rIns="0" bIns="0" rtlCol="0" anchor="ctr"/>
          <a:lstStyle/>
          <a:p>
            <a:pPr marL="0" indent="0">
              <a:buNone/>
            </a:pPr>
            <a:r>
              <a:rPr lang="en-US" sz="1000" b="1" dirty="0">
                <a:solidFill>
                  <a:srgbClr val="E07B39"/>
                </a:solidFill>
                <a:latin typeface="Calibri" pitchFamily="34" charset="0"/>
                <a:ea typeface="Calibri" pitchFamily="34" charset="-122"/>
                <a:cs typeface="Calibri" pitchFamily="34" charset="-120"/>
              </a:rPr>
              <a:t>The Civil Work Fallacy:</a:t>
            </a:r>
            <a:endParaRPr lang="en-US" sz="1000" dirty="0"/>
          </a:p>
        </p:txBody>
      </p:sp>
      <p:sp>
        <p:nvSpPr>
          <p:cNvPr id="13" name="Text 10"/>
          <p:cNvSpPr/>
          <p:nvPr/>
        </p:nvSpPr>
        <p:spPr>
          <a:xfrm>
            <a:off x="384048" y="3081528"/>
            <a:ext cx="3931920" cy="274320"/>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Physical site preparation and hardware installation occur concurrently during administrative waiting periods. Physical constraints are NOT the bottleneck.</a:t>
            </a:r>
            <a:endParaRPr lang="en-US" sz="950" dirty="0"/>
          </a:p>
        </p:txBody>
      </p:sp>
      <p:sp>
        <p:nvSpPr>
          <p:cNvPr id="14" name="Shape 11"/>
          <p:cNvSpPr/>
          <p:nvPr/>
        </p:nvSpPr>
        <p:spPr>
          <a:xfrm>
            <a:off x="228599" y="3538728"/>
            <a:ext cx="64009" cy="736092"/>
          </a:xfrm>
          <a:prstGeom prst="rect">
            <a:avLst/>
          </a:prstGeom>
          <a:solidFill>
            <a:srgbClr val="E07B39"/>
          </a:solidFill>
          <a:ln w="12700">
            <a:solidFill>
              <a:srgbClr val="E07B39"/>
            </a:solidFill>
            <a:prstDash val="solid"/>
          </a:ln>
        </p:spPr>
        <p:txBody>
          <a:bodyPr/>
          <a:lstStyle/>
          <a:p>
            <a:endParaRPr lang="en-IN"/>
          </a:p>
        </p:txBody>
      </p:sp>
      <p:sp>
        <p:nvSpPr>
          <p:cNvPr id="15" name="Text 12"/>
          <p:cNvSpPr/>
          <p:nvPr/>
        </p:nvSpPr>
        <p:spPr>
          <a:xfrm>
            <a:off x="384048" y="3538728"/>
            <a:ext cx="3931920" cy="219456"/>
          </a:xfrm>
          <a:prstGeom prst="rect">
            <a:avLst/>
          </a:prstGeom>
          <a:noFill/>
          <a:ln/>
        </p:spPr>
        <p:txBody>
          <a:bodyPr wrap="square" lIns="0" tIns="0" rIns="0" bIns="0" rtlCol="0" anchor="ctr"/>
          <a:lstStyle/>
          <a:p>
            <a:pPr marL="0" indent="0">
              <a:buNone/>
            </a:pPr>
            <a:r>
              <a:rPr lang="en-US" sz="1000" b="1" dirty="0">
                <a:solidFill>
                  <a:srgbClr val="E07B39"/>
                </a:solidFill>
                <a:latin typeface="Calibri" pitchFamily="34" charset="0"/>
                <a:ea typeface="Calibri" pitchFamily="34" charset="-122"/>
                <a:cs typeface="Calibri" pitchFamily="34" charset="-120"/>
              </a:rPr>
              <a:t>The "Handoff" Waste:</a:t>
            </a:r>
            <a:endParaRPr lang="en-US" sz="1000" dirty="0"/>
          </a:p>
        </p:txBody>
      </p:sp>
      <p:sp>
        <p:nvSpPr>
          <p:cNvPr id="16" name="Text 13"/>
          <p:cNvSpPr/>
          <p:nvPr/>
        </p:nvSpPr>
        <p:spPr>
          <a:xfrm>
            <a:off x="384048" y="3739895"/>
            <a:ext cx="3931920" cy="520827"/>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The operator explicitly cited multi-agency friction (files rotating through up to 5 different survey teams) as the primary cause of project volatility and timeline blowout.</a:t>
            </a:r>
            <a:endParaRPr lang="en-US" sz="950" dirty="0"/>
          </a:p>
        </p:txBody>
      </p:sp>
      <p:sp>
        <p:nvSpPr>
          <p:cNvPr id="17" name="Shape 14"/>
          <p:cNvSpPr/>
          <p:nvPr/>
        </p:nvSpPr>
        <p:spPr>
          <a:xfrm>
            <a:off x="4663440" y="658368"/>
            <a:ext cx="4251960" cy="292608"/>
          </a:xfrm>
          <a:prstGeom prst="rect">
            <a:avLst/>
          </a:prstGeom>
          <a:solidFill>
            <a:srgbClr val="0D9488"/>
          </a:solidFill>
          <a:ln w="12700">
            <a:solidFill>
              <a:srgbClr val="0D9488"/>
            </a:solidFill>
            <a:prstDash val="solid"/>
          </a:ln>
        </p:spPr>
        <p:txBody>
          <a:bodyPr/>
          <a:lstStyle/>
          <a:p>
            <a:endParaRPr lang="en-IN"/>
          </a:p>
        </p:txBody>
      </p:sp>
      <p:sp>
        <p:nvSpPr>
          <p:cNvPr id="18" name="Text 15"/>
          <p:cNvSpPr/>
          <p:nvPr/>
        </p:nvSpPr>
        <p:spPr>
          <a:xfrm>
            <a:off x="4754880" y="667512"/>
            <a:ext cx="406908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The Strategic Focus: Narrowing our x's</a:t>
            </a:r>
            <a:endParaRPr lang="en-US" sz="1100" dirty="0"/>
          </a:p>
        </p:txBody>
      </p:sp>
      <p:sp>
        <p:nvSpPr>
          <p:cNvPr id="19" name="Text 16"/>
          <p:cNvSpPr/>
          <p:nvPr/>
        </p:nvSpPr>
        <p:spPr>
          <a:xfrm>
            <a:off x="4663440" y="978408"/>
            <a:ext cx="4251960" cy="594360"/>
          </a:xfrm>
          <a:prstGeom prst="rect">
            <a:avLst/>
          </a:prstGeom>
          <a:noFill/>
          <a:ln/>
        </p:spPr>
        <p:txBody>
          <a:bodyPr wrap="square" lIns="0" tIns="0" rIns="0" bIns="0" rtlCol="0" anchor="ctr"/>
          <a:lstStyle/>
          <a:p>
            <a:pPr marL="0" indent="0">
              <a:buNone/>
            </a:pPr>
            <a:r>
              <a:rPr lang="en-US" sz="1000" dirty="0">
                <a:solidFill>
                  <a:srgbClr val="1E2761"/>
                </a:solidFill>
                <a:latin typeface="Calibri" pitchFamily="34" charset="0"/>
                <a:ea typeface="Calibri" pitchFamily="34" charset="-122"/>
                <a:cs typeface="Calibri" pitchFamily="34" charset="-120"/>
              </a:rPr>
              <a:t>Based on this stakeholder directive and our initial data stratification, this analysis will strictly focus on mathematically validating our two most severe bottlenecks:</a:t>
            </a:r>
            <a:endParaRPr lang="en-US" sz="1000" dirty="0"/>
          </a:p>
        </p:txBody>
      </p:sp>
      <p:sp>
        <p:nvSpPr>
          <p:cNvPr id="20" name="Shape 17"/>
          <p:cNvSpPr/>
          <p:nvPr/>
        </p:nvSpPr>
        <p:spPr>
          <a:xfrm>
            <a:off x="4663440" y="1645920"/>
            <a:ext cx="4251960" cy="658368"/>
          </a:xfrm>
          <a:prstGeom prst="rect">
            <a:avLst/>
          </a:prstGeom>
          <a:solidFill>
            <a:srgbClr val="FFFFFF"/>
          </a:solidFill>
          <a:ln w="12700">
            <a:solidFill>
              <a:srgbClr val="0D9488"/>
            </a:solidFill>
            <a:prstDash val="solid"/>
          </a:ln>
        </p:spPr>
        <p:txBody>
          <a:bodyPr/>
          <a:lstStyle/>
          <a:p>
            <a:endParaRPr lang="en-IN"/>
          </a:p>
        </p:txBody>
      </p:sp>
      <p:sp>
        <p:nvSpPr>
          <p:cNvPr id="21" name="Shape 18"/>
          <p:cNvSpPr/>
          <p:nvPr/>
        </p:nvSpPr>
        <p:spPr>
          <a:xfrm>
            <a:off x="4663440" y="1645920"/>
            <a:ext cx="64008" cy="658368"/>
          </a:xfrm>
          <a:prstGeom prst="rect">
            <a:avLst/>
          </a:prstGeom>
          <a:solidFill>
            <a:srgbClr val="0D9488"/>
          </a:solidFill>
          <a:ln w="12700">
            <a:solidFill>
              <a:srgbClr val="0D9488"/>
            </a:solidFill>
            <a:prstDash val="solid"/>
          </a:ln>
        </p:spPr>
        <p:txBody>
          <a:bodyPr/>
          <a:lstStyle/>
          <a:p>
            <a:endParaRPr lang="en-IN"/>
          </a:p>
        </p:txBody>
      </p:sp>
      <p:sp>
        <p:nvSpPr>
          <p:cNvPr id="22" name="Text 19"/>
          <p:cNvSpPr/>
          <p:nvPr/>
        </p:nvSpPr>
        <p:spPr>
          <a:xfrm>
            <a:off x="4828032" y="1700784"/>
            <a:ext cx="4005072" cy="237744"/>
          </a:xfrm>
          <a:prstGeom prst="rect">
            <a:avLst/>
          </a:prstGeom>
          <a:noFill/>
          <a:ln/>
        </p:spPr>
        <p:txBody>
          <a:bodyPr wrap="square" lIns="0" tIns="0" rIns="0" bIns="0" rtlCol="0" anchor="ctr"/>
          <a:lstStyle/>
          <a:p>
            <a:pPr marL="0" indent="0">
              <a:buNone/>
            </a:pPr>
            <a:r>
              <a:rPr lang="en-US" sz="1100" b="1" dirty="0">
                <a:solidFill>
                  <a:srgbClr val="0D9488"/>
                </a:solidFill>
                <a:latin typeface="Calibri" pitchFamily="34" charset="0"/>
                <a:ea typeface="Calibri" pitchFamily="34" charset="-122"/>
                <a:cs typeface="Calibri" pitchFamily="34" charset="-120"/>
              </a:rPr>
              <a:t>x₂ — DISCOM Grid Connections:</a:t>
            </a:r>
            <a:endParaRPr lang="en-US" sz="1100" dirty="0"/>
          </a:p>
        </p:txBody>
      </p:sp>
      <p:sp>
        <p:nvSpPr>
          <p:cNvPr id="23" name="Text 20"/>
          <p:cNvSpPr/>
          <p:nvPr/>
        </p:nvSpPr>
        <p:spPr>
          <a:xfrm>
            <a:off x="4828032" y="1956816"/>
            <a:ext cx="4005072" cy="32004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The structural delays caused by High Tension (HT) transformer upgrades versus existing Low Tension (LT) availability.</a:t>
            </a:r>
            <a:endParaRPr lang="en-US" sz="1000" dirty="0"/>
          </a:p>
        </p:txBody>
      </p:sp>
      <p:sp>
        <p:nvSpPr>
          <p:cNvPr id="24" name="Shape 21"/>
          <p:cNvSpPr/>
          <p:nvPr/>
        </p:nvSpPr>
        <p:spPr>
          <a:xfrm>
            <a:off x="4663440" y="2377440"/>
            <a:ext cx="4251960" cy="658368"/>
          </a:xfrm>
          <a:prstGeom prst="rect">
            <a:avLst/>
          </a:prstGeom>
          <a:solidFill>
            <a:srgbClr val="FFFFFF"/>
          </a:solidFill>
          <a:ln w="12700">
            <a:solidFill>
              <a:srgbClr val="0D9488"/>
            </a:solidFill>
            <a:prstDash val="solid"/>
          </a:ln>
        </p:spPr>
        <p:txBody>
          <a:bodyPr/>
          <a:lstStyle/>
          <a:p>
            <a:endParaRPr lang="en-IN"/>
          </a:p>
        </p:txBody>
      </p:sp>
      <p:sp>
        <p:nvSpPr>
          <p:cNvPr id="25" name="Shape 22"/>
          <p:cNvSpPr/>
          <p:nvPr/>
        </p:nvSpPr>
        <p:spPr>
          <a:xfrm>
            <a:off x="4663440" y="2377440"/>
            <a:ext cx="64008" cy="658368"/>
          </a:xfrm>
          <a:prstGeom prst="rect">
            <a:avLst/>
          </a:prstGeom>
          <a:solidFill>
            <a:srgbClr val="0D9488"/>
          </a:solidFill>
          <a:ln w="12700">
            <a:solidFill>
              <a:srgbClr val="0D9488"/>
            </a:solidFill>
            <a:prstDash val="solid"/>
          </a:ln>
        </p:spPr>
        <p:txBody>
          <a:bodyPr/>
          <a:lstStyle/>
          <a:p>
            <a:endParaRPr lang="en-IN"/>
          </a:p>
        </p:txBody>
      </p:sp>
      <p:sp>
        <p:nvSpPr>
          <p:cNvPr id="26" name="Text 23"/>
          <p:cNvSpPr/>
          <p:nvPr/>
        </p:nvSpPr>
        <p:spPr>
          <a:xfrm>
            <a:off x="4828032" y="2432304"/>
            <a:ext cx="4005072" cy="237744"/>
          </a:xfrm>
          <a:prstGeom prst="rect">
            <a:avLst/>
          </a:prstGeom>
          <a:noFill/>
          <a:ln/>
        </p:spPr>
        <p:txBody>
          <a:bodyPr wrap="square" lIns="0" tIns="0" rIns="0" bIns="0" rtlCol="0" anchor="ctr"/>
          <a:lstStyle/>
          <a:p>
            <a:pPr marL="0" indent="0">
              <a:buNone/>
            </a:pPr>
            <a:r>
              <a:rPr lang="en-US" sz="1100" b="1" dirty="0">
                <a:solidFill>
                  <a:srgbClr val="0D9488"/>
                </a:solidFill>
                <a:latin typeface="Calibri" pitchFamily="34" charset="0"/>
                <a:ea typeface="Calibri" pitchFamily="34" charset="-122"/>
                <a:cs typeface="Calibri" pitchFamily="34" charset="-120"/>
              </a:rPr>
              <a:t>x₄ — Municipal Approvals:</a:t>
            </a:r>
            <a:endParaRPr lang="en-US" sz="1100" dirty="0"/>
          </a:p>
        </p:txBody>
      </p:sp>
      <p:sp>
        <p:nvSpPr>
          <p:cNvPr id="27" name="Text 24"/>
          <p:cNvSpPr/>
          <p:nvPr/>
        </p:nvSpPr>
        <p:spPr>
          <a:xfrm>
            <a:off x="4828032" y="2688336"/>
            <a:ext cx="4005072" cy="32004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The unstandardized wait times (Muda) caused by fragmented local governance and missing SLAs.</a:t>
            </a:r>
            <a:endParaRPr lang="en-US" sz="1000" dirty="0"/>
          </a:p>
        </p:txBody>
      </p:sp>
      <p:sp>
        <p:nvSpPr>
          <p:cNvPr id="28" name="Shape 25"/>
          <p:cNvSpPr/>
          <p:nvPr/>
        </p:nvSpPr>
        <p:spPr>
          <a:xfrm>
            <a:off x="4572000" y="658368"/>
            <a:ext cx="0" cy="3547872"/>
          </a:xfrm>
          <a:prstGeom prst="line">
            <a:avLst/>
          </a:prstGeom>
          <a:noFill/>
          <a:ln w="12700">
            <a:solidFill>
              <a:srgbClr val="CBD5E1"/>
            </a:solidFill>
            <a:prstDash val="solid"/>
          </a:ln>
        </p:spPr>
        <p:txBody>
          <a:bodyPr/>
          <a:lstStyle/>
          <a:p>
            <a:endParaRPr lang="en-IN"/>
          </a:p>
        </p:txBody>
      </p:sp>
      <p:sp>
        <p:nvSpPr>
          <p:cNvPr id="29" name="Shape 26"/>
          <p:cNvSpPr/>
          <p:nvPr/>
        </p:nvSpPr>
        <p:spPr>
          <a:xfrm>
            <a:off x="0" y="4846320"/>
            <a:ext cx="9144000" cy="297180"/>
          </a:xfrm>
          <a:prstGeom prst="rect">
            <a:avLst/>
          </a:prstGeom>
          <a:solidFill>
            <a:srgbClr val="1C2B4A"/>
          </a:solidFill>
          <a:ln w="12700">
            <a:solidFill>
              <a:srgbClr val="1C2B4A"/>
            </a:solidFill>
            <a:prstDash val="solid"/>
          </a:ln>
        </p:spPr>
        <p:txBody>
          <a:bodyPr/>
          <a:lstStyle/>
          <a:p>
            <a:endParaRPr lang="en-IN"/>
          </a:p>
        </p:txBody>
      </p:sp>
      <p:sp>
        <p:nvSpPr>
          <p:cNvPr id="30" name="Text 27"/>
          <p:cNvSpPr/>
          <p:nvPr/>
        </p:nvSpPr>
        <p:spPr>
          <a:xfrm>
            <a:off x="182880" y="4873752"/>
            <a:ext cx="8778240" cy="246888"/>
          </a:xfrm>
          <a:prstGeom prst="rect">
            <a:avLst/>
          </a:prstGeom>
          <a:noFill/>
          <a:ln/>
        </p:spPr>
        <p:txBody>
          <a:bodyPr wrap="square" lIns="0" tIns="0" rIns="0" bIns="0" rtlCol="0" anchor="ctr"/>
          <a:lstStyle/>
          <a:p>
            <a:pPr marL="0" indent="0">
              <a:buNone/>
            </a:pPr>
            <a:r>
              <a:rPr lang="en-US" sz="800" dirty="0">
                <a:solidFill>
                  <a:srgbClr val="A8C4E8"/>
                </a:solidFill>
                <a:latin typeface="Calibri" pitchFamily="34" charset="0"/>
                <a:ea typeface="Calibri" pitchFamily="34" charset="-122"/>
                <a:cs typeface="Calibri" pitchFamily="34" charset="-120"/>
              </a:rPr>
              <a:t>Methodology Alignment: Transitioning from Theoretical Baseline (NITI Aayog) → Validated Field Reality (EV SME) → Statistical Verification</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C2B4A"/>
          </a:solidFill>
          <a:ln w="12700">
            <a:solidFill>
              <a:srgbClr val="1C2B4A"/>
            </a:solidFill>
            <a:prstDash val="solid"/>
          </a:ln>
        </p:spPr>
        <p:txBody>
          <a:bodyPr/>
          <a:lstStyle/>
          <a:p>
            <a:endParaRPr lang="en-IN"/>
          </a:p>
        </p:txBody>
      </p:sp>
      <p:sp>
        <p:nvSpPr>
          <p:cNvPr id="3" name="Text 1"/>
          <p:cNvSpPr/>
          <p:nvPr/>
        </p:nvSpPr>
        <p:spPr>
          <a:xfrm>
            <a:off x="274320" y="91440"/>
            <a:ext cx="7132320"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VISUAL EVIDENCE — Pareto &amp; Process Stratification</a:t>
            </a:r>
            <a:endParaRPr lang="en-US" sz="1400" dirty="0"/>
          </a:p>
        </p:txBody>
      </p:sp>
      <p:sp>
        <p:nvSpPr>
          <p:cNvPr id="5" name="Text 2"/>
          <p:cNvSpPr/>
          <p:nvPr/>
        </p:nvSpPr>
        <p:spPr>
          <a:xfrm>
            <a:off x="274320" y="566928"/>
            <a:ext cx="8595360" cy="256032"/>
          </a:xfrm>
          <a:prstGeom prst="rect">
            <a:avLst/>
          </a:prstGeom>
          <a:noFill/>
          <a:ln/>
        </p:spPr>
        <p:txBody>
          <a:bodyPr wrap="square" lIns="0" tIns="0" rIns="0" bIns="0" rtlCol="0" anchor="ctr"/>
          <a:lstStyle/>
          <a:p>
            <a:pPr marL="0" indent="0">
              <a:buNone/>
            </a:pPr>
            <a:r>
              <a:rPr lang="en-US" sz="1100" i="1" dirty="0">
                <a:solidFill>
                  <a:srgbClr val="2563A8"/>
                </a:solidFill>
                <a:latin typeface="Calibri" pitchFamily="34" charset="0"/>
                <a:ea typeface="Calibri" pitchFamily="34" charset="-122"/>
                <a:cs typeface="Calibri" pitchFamily="34" charset="-120"/>
              </a:rPr>
              <a:t>Identifying the "Vital Few" Bottlenecks</a:t>
            </a:r>
            <a:endParaRPr lang="en-US" sz="1100" dirty="0"/>
          </a:p>
        </p:txBody>
      </p:sp>
      <p:sp>
        <p:nvSpPr>
          <p:cNvPr id="6" name="Shape 3"/>
          <p:cNvSpPr/>
          <p:nvPr/>
        </p:nvSpPr>
        <p:spPr>
          <a:xfrm>
            <a:off x="228600" y="868680"/>
            <a:ext cx="4114800" cy="274320"/>
          </a:xfrm>
          <a:prstGeom prst="rect">
            <a:avLst/>
          </a:prstGeom>
          <a:solidFill>
            <a:srgbClr val="2563A8"/>
          </a:solidFill>
          <a:ln w="12700">
            <a:solidFill>
              <a:srgbClr val="2563A8"/>
            </a:solidFill>
            <a:prstDash val="solid"/>
          </a:ln>
        </p:spPr>
        <p:txBody>
          <a:bodyPr/>
          <a:lstStyle/>
          <a:p>
            <a:endParaRPr lang="en-IN"/>
          </a:p>
        </p:txBody>
      </p:sp>
      <p:sp>
        <p:nvSpPr>
          <p:cNvPr id="7" name="Text 4"/>
          <p:cNvSpPr/>
          <p:nvPr/>
        </p:nvSpPr>
        <p:spPr>
          <a:xfrm>
            <a:off x="320040" y="877824"/>
            <a:ext cx="3931920" cy="25603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1. Pareto Analysis (The 80/20 Rule)</a:t>
            </a:r>
            <a:endParaRPr lang="en-US" sz="1050" dirty="0"/>
          </a:p>
        </p:txBody>
      </p:sp>
      <p:sp>
        <p:nvSpPr>
          <p:cNvPr id="9" name="Text 5"/>
          <p:cNvSpPr/>
          <p:nvPr/>
        </p:nvSpPr>
        <p:spPr>
          <a:xfrm>
            <a:off x="228600" y="3730752"/>
            <a:ext cx="4114800" cy="411480"/>
          </a:xfrm>
          <a:prstGeom prst="rect">
            <a:avLst/>
          </a:prstGeom>
          <a:noFill/>
          <a:ln/>
        </p:spPr>
        <p:txBody>
          <a:bodyPr wrap="square" lIns="0" tIns="0" rIns="0" bIns="0" rtlCol="0" anchor="ctr"/>
          <a:lstStyle/>
          <a:p>
            <a:pPr marL="0" indent="0">
              <a:buNone/>
            </a:pPr>
            <a:r>
              <a:rPr lang="en-US" sz="950" i="1" dirty="0">
                <a:solidFill>
                  <a:srgbClr val="334155"/>
                </a:solidFill>
                <a:latin typeface="Calibri" pitchFamily="34" charset="0"/>
                <a:ea typeface="Calibri" pitchFamily="34" charset="-122"/>
                <a:cs typeface="Calibri" pitchFamily="34" charset="-120"/>
              </a:rPr>
              <a:t>80% cumulative delay concentrated in x₂ and x₄ (Administrative &amp; Grid wait times). Physical phases are 'trivial many'.</a:t>
            </a:r>
            <a:endParaRPr lang="en-US" sz="950" dirty="0"/>
          </a:p>
        </p:txBody>
      </p:sp>
      <p:sp>
        <p:nvSpPr>
          <p:cNvPr id="10" name="Shape 6"/>
          <p:cNvSpPr/>
          <p:nvPr/>
        </p:nvSpPr>
        <p:spPr>
          <a:xfrm>
            <a:off x="4754880" y="868680"/>
            <a:ext cx="4160520" cy="274320"/>
          </a:xfrm>
          <a:prstGeom prst="rect">
            <a:avLst/>
          </a:prstGeom>
          <a:solidFill>
            <a:srgbClr val="E07B39"/>
          </a:solidFill>
          <a:ln w="12700">
            <a:solidFill>
              <a:srgbClr val="E07B39"/>
            </a:solidFill>
            <a:prstDash val="solid"/>
          </a:ln>
        </p:spPr>
        <p:txBody>
          <a:bodyPr/>
          <a:lstStyle/>
          <a:p>
            <a:endParaRPr lang="en-IN"/>
          </a:p>
        </p:txBody>
      </p:sp>
      <p:sp>
        <p:nvSpPr>
          <p:cNvPr id="11" name="Text 7"/>
          <p:cNvSpPr/>
          <p:nvPr/>
        </p:nvSpPr>
        <p:spPr>
          <a:xfrm>
            <a:off x="4846320" y="877824"/>
            <a:ext cx="3977640" cy="25603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2. Process Stratification (LT vs. HT Load)</a:t>
            </a:r>
            <a:endParaRPr lang="en-US" sz="1050" dirty="0"/>
          </a:p>
        </p:txBody>
      </p:sp>
      <p:pic>
        <p:nvPicPr>
          <p:cNvPr id="12" name="Image 1" descr="preencoded.png"/>
          <p:cNvPicPr>
            <a:picLocks noChangeAspect="1"/>
          </p:cNvPicPr>
          <p:nvPr/>
        </p:nvPicPr>
        <p:blipFill>
          <a:blip r:embed="rId3"/>
          <a:stretch>
            <a:fillRect/>
          </a:stretch>
        </p:blipFill>
        <p:spPr>
          <a:xfrm>
            <a:off x="4754880" y="1133856"/>
            <a:ext cx="4205575" cy="2487168"/>
          </a:xfrm>
          <a:prstGeom prst="rect">
            <a:avLst/>
          </a:prstGeom>
        </p:spPr>
      </p:pic>
      <p:sp>
        <p:nvSpPr>
          <p:cNvPr id="13" name="Text 8"/>
          <p:cNvSpPr/>
          <p:nvPr/>
        </p:nvSpPr>
        <p:spPr>
          <a:xfrm>
            <a:off x="4754880" y="3730752"/>
            <a:ext cx="4114800" cy="411480"/>
          </a:xfrm>
          <a:prstGeom prst="rect">
            <a:avLst/>
          </a:prstGeom>
          <a:noFill/>
          <a:ln/>
        </p:spPr>
        <p:txBody>
          <a:bodyPr wrap="square" lIns="0" tIns="0" rIns="0" bIns="0" rtlCol="0" anchor="ctr"/>
          <a:lstStyle/>
          <a:p>
            <a:pPr marL="0" indent="0">
              <a:buNone/>
            </a:pPr>
            <a:r>
              <a:rPr lang="en-US" sz="950" i="1" dirty="0">
                <a:solidFill>
                  <a:srgbClr val="334155"/>
                </a:solidFill>
                <a:latin typeface="Calibri" pitchFamily="34" charset="0"/>
                <a:ea typeface="Calibri" pitchFamily="34" charset="-122"/>
                <a:cs typeface="Calibri" pitchFamily="34" charset="-120"/>
              </a:rPr>
              <a:t>Stratifying by power load reveals a structural 30-day penalty. HT sites shift the entire distribution right.</a:t>
            </a:r>
            <a:endParaRPr lang="en-US" sz="950" dirty="0"/>
          </a:p>
        </p:txBody>
      </p:sp>
      <p:sp>
        <p:nvSpPr>
          <p:cNvPr id="14" name="Shape 9"/>
          <p:cNvSpPr/>
          <p:nvPr/>
        </p:nvSpPr>
        <p:spPr>
          <a:xfrm>
            <a:off x="4553712" y="822960"/>
            <a:ext cx="0" cy="3383280"/>
          </a:xfrm>
          <a:prstGeom prst="line">
            <a:avLst/>
          </a:prstGeom>
          <a:noFill/>
          <a:ln w="12700">
            <a:solidFill>
              <a:srgbClr val="CBD5E1"/>
            </a:solidFill>
            <a:prstDash val="solid"/>
          </a:ln>
        </p:spPr>
        <p:txBody>
          <a:bodyPr/>
          <a:lstStyle/>
          <a:p>
            <a:endParaRPr lang="en-IN"/>
          </a:p>
        </p:txBody>
      </p:sp>
      <p:sp>
        <p:nvSpPr>
          <p:cNvPr id="15" name="Shape 10"/>
          <p:cNvSpPr/>
          <p:nvPr/>
        </p:nvSpPr>
        <p:spPr>
          <a:xfrm>
            <a:off x="0" y="4251960"/>
            <a:ext cx="9144000" cy="594360"/>
          </a:xfrm>
          <a:prstGeom prst="rect">
            <a:avLst/>
          </a:prstGeom>
          <a:solidFill>
            <a:srgbClr val="1C2B4A"/>
          </a:solidFill>
          <a:ln w="12700">
            <a:solidFill>
              <a:srgbClr val="1C2B4A"/>
            </a:solidFill>
            <a:prstDash val="solid"/>
          </a:ln>
        </p:spPr>
        <p:txBody>
          <a:bodyPr/>
          <a:lstStyle/>
          <a:p>
            <a:endParaRPr lang="en-IN"/>
          </a:p>
        </p:txBody>
      </p:sp>
      <p:sp>
        <p:nvSpPr>
          <p:cNvPr id="16" name="Text 11"/>
          <p:cNvSpPr/>
          <p:nvPr/>
        </p:nvSpPr>
        <p:spPr>
          <a:xfrm>
            <a:off x="182880" y="4279392"/>
            <a:ext cx="8778240" cy="530352"/>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DATA-DRIVEN CONCLUSION: The current process is highly capable of executing physical civil work. Defects are exclusively caused by unstandardized multi-agency NOCs (x₄) and blind site selection leading to mandatory HT upgrades (x₂).</a:t>
            </a:r>
            <a:endParaRPr lang="en-US" sz="950" dirty="0"/>
          </a:p>
        </p:txBody>
      </p:sp>
      <p:pic>
        <p:nvPicPr>
          <p:cNvPr id="17" name="image4.png">
            <a:extLst>
              <a:ext uri="{FF2B5EF4-FFF2-40B4-BE49-F238E27FC236}">
                <a16:creationId xmlns:a16="http://schemas.microsoft.com/office/drawing/2014/main" id="{93DA41B7-7364-E973-154A-7A5EACF0F250}"/>
              </a:ext>
            </a:extLst>
          </p:cNvPr>
          <p:cNvPicPr/>
          <p:nvPr/>
        </p:nvPicPr>
        <p:blipFill>
          <a:blip r:embed="rId4"/>
          <a:srcRect/>
          <a:stretch>
            <a:fillRect/>
          </a:stretch>
        </p:blipFill>
        <p:spPr>
          <a:xfrm>
            <a:off x="228600" y="1133856"/>
            <a:ext cx="4114784" cy="2487168"/>
          </a:xfrm>
          <a:prstGeom prst="rect">
            <a:avLst/>
          </a:prstGeom>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C2B4A"/>
          </a:solidFill>
          <a:ln w="12700">
            <a:solidFill>
              <a:srgbClr val="1C2B4A"/>
            </a:solidFill>
            <a:prstDash val="solid"/>
          </a:ln>
        </p:spPr>
        <p:txBody>
          <a:bodyPr/>
          <a:lstStyle/>
          <a:p>
            <a:endParaRPr lang="en-IN"/>
          </a:p>
        </p:txBody>
      </p:sp>
      <p:sp>
        <p:nvSpPr>
          <p:cNvPr id="3" name="Text 1"/>
          <p:cNvSpPr/>
          <p:nvPr/>
        </p:nvSpPr>
        <p:spPr>
          <a:xfrm>
            <a:off x="274320" y="91440"/>
            <a:ext cx="7132320"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DATA VALIDATION — Statistical Hypothesis Testing</a:t>
            </a:r>
            <a:endParaRPr lang="en-US" sz="1400" dirty="0"/>
          </a:p>
        </p:txBody>
      </p:sp>
      <p:sp>
        <p:nvSpPr>
          <p:cNvPr id="5" name="Text 2"/>
          <p:cNvSpPr/>
          <p:nvPr/>
        </p:nvSpPr>
        <p:spPr>
          <a:xfrm>
            <a:off x="274320" y="566928"/>
            <a:ext cx="8595360" cy="256032"/>
          </a:xfrm>
          <a:prstGeom prst="rect">
            <a:avLst/>
          </a:prstGeom>
          <a:noFill/>
          <a:ln/>
        </p:spPr>
        <p:txBody>
          <a:bodyPr wrap="square" lIns="0" tIns="0" rIns="0" bIns="0" rtlCol="0" anchor="ctr"/>
          <a:lstStyle/>
          <a:p>
            <a:pPr marL="0" indent="0">
              <a:buNone/>
            </a:pPr>
            <a:r>
              <a:rPr lang="en-US" sz="1050" i="1" dirty="0">
                <a:solidFill>
                  <a:srgbClr val="2563A8"/>
                </a:solidFill>
                <a:latin typeface="Calibri" pitchFamily="34" charset="0"/>
                <a:ea typeface="Calibri" pitchFamily="34" charset="-122"/>
                <a:cs typeface="Calibri" pitchFamily="34" charset="-120"/>
              </a:rPr>
              <a:t>Validating the Impact of Grid Capacity (x₂) on Total Setup Time (Y)  —  2-Sample t-Test  |  α = 0.05</a:t>
            </a:r>
            <a:endParaRPr lang="en-US" sz="1050" dirty="0"/>
          </a:p>
        </p:txBody>
      </p:sp>
      <p:sp>
        <p:nvSpPr>
          <p:cNvPr id="6" name="Shape 3"/>
          <p:cNvSpPr/>
          <p:nvPr/>
        </p:nvSpPr>
        <p:spPr>
          <a:xfrm>
            <a:off x="274320" y="896112"/>
            <a:ext cx="8595360" cy="292608"/>
          </a:xfrm>
          <a:prstGeom prst="rect">
            <a:avLst/>
          </a:prstGeom>
          <a:solidFill>
            <a:srgbClr val="2563A8"/>
          </a:solidFill>
          <a:ln w="12700">
            <a:solidFill>
              <a:srgbClr val="2563A8"/>
            </a:solidFill>
            <a:prstDash val="solid"/>
          </a:ln>
        </p:spPr>
        <p:txBody>
          <a:bodyPr/>
          <a:lstStyle/>
          <a:p>
            <a:endParaRPr lang="en-IN"/>
          </a:p>
        </p:txBody>
      </p:sp>
      <p:sp>
        <p:nvSpPr>
          <p:cNvPr id="7" name="Text 4"/>
          <p:cNvSpPr/>
          <p:nvPr/>
        </p:nvSpPr>
        <p:spPr>
          <a:xfrm>
            <a:off x="411480" y="905256"/>
            <a:ext cx="832104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1. The Statistical Setup  (Alpha Level  α = 0.05)</a:t>
            </a:r>
            <a:endParaRPr lang="en-US" sz="1200" dirty="0"/>
          </a:p>
        </p:txBody>
      </p:sp>
      <p:sp>
        <p:nvSpPr>
          <p:cNvPr id="8" name="Shape 5"/>
          <p:cNvSpPr/>
          <p:nvPr/>
        </p:nvSpPr>
        <p:spPr>
          <a:xfrm>
            <a:off x="274320" y="1225296"/>
            <a:ext cx="4160520" cy="1371600"/>
          </a:xfrm>
          <a:prstGeom prst="rect">
            <a:avLst/>
          </a:prstGeom>
          <a:solidFill>
            <a:srgbClr val="FFFFFF"/>
          </a:solidFill>
          <a:ln w="19050">
            <a:solidFill>
              <a:srgbClr val="2563A8"/>
            </a:solidFill>
            <a:prstDash val="solid"/>
          </a:ln>
        </p:spPr>
        <p:txBody>
          <a:bodyPr/>
          <a:lstStyle/>
          <a:p>
            <a:endParaRPr lang="en-IN"/>
          </a:p>
        </p:txBody>
      </p:sp>
      <p:sp>
        <p:nvSpPr>
          <p:cNvPr id="9" name="Shape 6"/>
          <p:cNvSpPr/>
          <p:nvPr/>
        </p:nvSpPr>
        <p:spPr>
          <a:xfrm>
            <a:off x="274320" y="1225296"/>
            <a:ext cx="4160520" cy="274320"/>
          </a:xfrm>
          <a:prstGeom prst="rect">
            <a:avLst/>
          </a:prstGeom>
          <a:solidFill>
            <a:srgbClr val="2563A8">
              <a:alpha val="80000"/>
            </a:srgbClr>
          </a:solidFill>
          <a:ln w="12700">
            <a:solidFill>
              <a:srgbClr val="2563A8"/>
            </a:solidFill>
            <a:prstDash val="solid"/>
          </a:ln>
        </p:spPr>
        <p:txBody>
          <a:bodyPr/>
          <a:lstStyle/>
          <a:p>
            <a:endParaRPr lang="en-IN"/>
          </a:p>
        </p:txBody>
      </p:sp>
      <p:sp>
        <p:nvSpPr>
          <p:cNvPr id="10" name="Text 7"/>
          <p:cNvSpPr/>
          <p:nvPr/>
        </p:nvSpPr>
        <p:spPr>
          <a:xfrm>
            <a:off x="365760" y="1188720"/>
            <a:ext cx="3977640" cy="30175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Null Hypothesis (H₀) :  </a:t>
            </a:r>
            <a:r>
              <a:rPr lang="en-US" sz="1400" b="1" dirty="0" err="1">
                <a:solidFill>
                  <a:srgbClr val="FFFFFF"/>
                </a:solidFill>
                <a:latin typeface="Calibri" pitchFamily="34" charset="0"/>
                <a:ea typeface="Calibri" pitchFamily="34" charset="-122"/>
                <a:cs typeface="Calibri" pitchFamily="34" charset="-120"/>
              </a:rPr>
              <a:t>μ</a:t>
            </a:r>
            <a:r>
              <a:rPr lang="en-US" sz="600" b="1" dirty="0" err="1">
                <a:solidFill>
                  <a:srgbClr val="FFFFFF"/>
                </a:solidFill>
                <a:latin typeface="Calibri" pitchFamily="34" charset="0"/>
                <a:ea typeface="Calibri" pitchFamily="34" charset="-122"/>
                <a:cs typeface="Calibri" pitchFamily="34" charset="-120"/>
              </a:rPr>
              <a:t>LT</a:t>
            </a:r>
            <a:r>
              <a:rPr lang="en-US" sz="1100" b="1" dirty="0">
                <a:solidFill>
                  <a:srgbClr val="FFFFFF"/>
                </a:solidFill>
                <a:latin typeface="Calibri" pitchFamily="34" charset="0"/>
                <a:ea typeface="Calibri" pitchFamily="34" charset="-122"/>
                <a:cs typeface="Calibri" pitchFamily="34" charset="-120"/>
              </a:rPr>
              <a:t> = </a:t>
            </a:r>
            <a:r>
              <a:rPr lang="en-US" sz="1400" b="1" dirty="0" err="1">
                <a:solidFill>
                  <a:srgbClr val="FFFFFF"/>
                </a:solidFill>
                <a:latin typeface="Calibri" pitchFamily="34" charset="0"/>
                <a:ea typeface="Calibri" pitchFamily="34" charset="-122"/>
                <a:cs typeface="Calibri" pitchFamily="34" charset="-120"/>
              </a:rPr>
              <a:t>μ</a:t>
            </a:r>
            <a:r>
              <a:rPr lang="en-US" sz="600" b="1" dirty="0" err="1">
                <a:solidFill>
                  <a:srgbClr val="FFFFFF"/>
                </a:solidFill>
                <a:latin typeface="Calibri" pitchFamily="34" charset="0"/>
                <a:ea typeface="Calibri" pitchFamily="34" charset="-122"/>
                <a:cs typeface="Calibri" pitchFamily="34" charset="-120"/>
              </a:rPr>
              <a:t>HT</a:t>
            </a:r>
            <a:endParaRPr lang="en-US" sz="1100" dirty="0"/>
          </a:p>
        </p:txBody>
      </p:sp>
      <p:sp>
        <p:nvSpPr>
          <p:cNvPr id="11" name="Text 8"/>
          <p:cNvSpPr/>
          <p:nvPr/>
        </p:nvSpPr>
        <p:spPr>
          <a:xfrm>
            <a:off x="365760" y="1536192"/>
            <a:ext cx="3977640" cy="1005840"/>
          </a:xfrm>
          <a:prstGeom prst="rect">
            <a:avLst/>
          </a:prstGeom>
          <a:noFill/>
          <a:ln/>
        </p:spPr>
        <p:txBody>
          <a:bodyPr wrap="square" lIns="0" tIns="0" rIns="0" bIns="0" rtlCol="0" anchor="ctr"/>
          <a:lstStyle/>
          <a:p>
            <a:pPr marL="0" indent="0">
              <a:buNone/>
            </a:pPr>
            <a:r>
              <a:rPr lang="en-US" sz="1600" dirty="0">
                <a:solidFill>
                  <a:srgbClr val="1E2761"/>
                </a:solidFill>
                <a:latin typeface="Calibri" pitchFamily="34" charset="0"/>
                <a:ea typeface="Calibri" pitchFamily="34" charset="-122"/>
                <a:cs typeface="Calibri" pitchFamily="34" charset="-120"/>
              </a:rPr>
              <a:t>There is NO statistical difference in average setup cycle time between sites utilising existing LT connections versus those requiring HT grid upgrades.</a:t>
            </a:r>
            <a:endParaRPr lang="en-US" sz="1600" dirty="0"/>
          </a:p>
        </p:txBody>
      </p:sp>
      <p:sp>
        <p:nvSpPr>
          <p:cNvPr id="12" name="Shape 9"/>
          <p:cNvSpPr/>
          <p:nvPr/>
        </p:nvSpPr>
        <p:spPr>
          <a:xfrm>
            <a:off x="4709160" y="1225296"/>
            <a:ext cx="4160520" cy="1371600"/>
          </a:xfrm>
          <a:prstGeom prst="rect">
            <a:avLst/>
          </a:prstGeom>
          <a:solidFill>
            <a:srgbClr val="FFFFFF"/>
          </a:solidFill>
          <a:ln w="19050">
            <a:solidFill>
              <a:srgbClr val="0D9488"/>
            </a:solidFill>
            <a:prstDash val="solid"/>
          </a:ln>
        </p:spPr>
        <p:txBody>
          <a:bodyPr/>
          <a:lstStyle/>
          <a:p>
            <a:endParaRPr lang="en-IN"/>
          </a:p>
        </p:txBody>
      </p:sp>
      <p:sp>
        <p:nvSpPr>
          <p:cNvPr id="13" name="Shape 10"/>
          <p:cNvSpPr/>
          <p:nvPr/>
        </p:nvSpPr>
        <p:spPr>
          <a:xfrm>
            <a:off x="4709160" y="1225296"/>
            <a:ext cx="4160520" cy="274320"/>
          </a:xfrm>
          <a:prstGeom prst="rect">
            <a:avLst/>
          </a:prstGeom>
          <a:solidFill>
            <a:srgbClr val="0D9488">
              <a:alpha val="80000"/>
            </a:srgbClr>
          </a:solidFill>
          <a:ln w="12700">
            <a:solidFill>
              <a:srgbClr val="0D9488"/>
            </a:solidFill>
            <a:prstDash val="solid"/>
          </a:ln>
        </p:spPr>
        <p:txBody>
          <a:bodyPr/>
          <a:lstStyle/>
          <a:p>
            <a:endParaRPr lang="en-IN"/>
          </a:p>
        </p:txBody>
      </p:sp>
      <p:sp>
        <p:nvSpPr>
          <p:cNvPr id="14" name="Text 11"/>
          <p:cNvSpPr/>
          <p:nvPr/>
        </p:nvSpPr>
        <p:spPr>
          <a:xfrm>
            <a:off x="4800600" y="1143000"/>
            <a:ext cx="3977640" cy="374904"/>
          </a:xfrm>
          <a:prstGeom prst="rect">
            <a:avLst/>
          </a:prstGeom>
          <a:noFill/>
          <a:ln/>
        </p:spPr>
        <p:txBody>
          <a:bodyPr wrap="square" lIns="0" tIns="0" rIns="0" bIns="0" rtlCol="0" anchor="ctr"/>
          <a:lstStyle/>
          <a:p>
            <a:r>
              <a:rPr lang="en-US" sz="1000" b="1" dirty="0">
                <a:solidFill>
                  <a:srgbClr val="FFFFFF"/>
                </a:solidFill>
                <a:latin typeface="Calibri" pitchFamily="34" charset="0"/>
                <a:ea typeface="Calibri" pitchFamily="34" charset="-122"/>
                <a:cs typeface="Calibri" pitchFamily="34" charset="-120"/>
              </a:rPr>
              <a:t>Alternate Hypothesis (Hₐ) : </a:t>
            </a:r>
            <a:r>
              <a:rPr lang="en-US" sz="1200" b="1" dirty="0" err="1">
                <a:solidFill>
                  <a:srgbClr val="FFFFFF"/>
                </a:solidFill>
                <a:latin typeface="Calibri" pitchFamily="34" charset="0"/>
                <a:ea typeface="Calibri" pitchFamily="34" charset="-122"/>
                <a:cs typeface="Calibri" pitchFamily="34" charset="-120"/>
              </a:rPr>
              <a:t>μ</a:t>
            </a:r>
            <a:r>
              <a:rPr lang="en-US" sz="600" b="1" dirty="0" err="1">
                <a:solidFill>
                  <a:srgbClr val="FFFFFF"/>
                </a:solidFill>
                <a:latin typeface="Calibri" pitchFamily="34" charset="0"/>
                <a:ea typeface="Calibri" pitchFamily="34" charset="-122"/>
                <a:cs typeface="Calibri" pitchFamily="34" charset="-120"/>
              </a:rPr>
              <a:t>LT</a:t>
            </a:r>
            <a:r>
              <a:rPr lang="en-US" sz="1400" b="1" dirty="0">
                <a:solidFill>
                  <a:srgbClr val="FFFFFF"/>
                </a:solidFill>
                <a:latin typeface="Calibri" pitchFamily="34" charset="0"/>
                <a:ea typeface="Calibri" pitchFamily="34" charset="-122"/>
                <a:cs typeface="Calibri" pitchFamily="34" charset="-120"/>
              </a:rPr>
              <a:t> </a:t>
            </a:r>
            <a:r>
              <a:rPr lang="en-US" sz="1100" b="1" dirty="0">
                <a:solidFill>
                  <a:srgbClr val="FFFFFF"/>
                </a:solidFill>
                <a:latin typeface="Calibri" pitchFamily="34" charset="0"/>
                <a:ea typeface="Calibri" pitchFamily="34" charset="-122"/>
                <a:cs typeface="Calibri" pitchFamily="34" charset="-120"/>
              </a:rPr>
              <a:t>&lt;</a:t>
            </a:r>
            <a:r>
              <a:rPr lang="en-US" sz="1400" b="1" dirty="0">
                <a:solidFill>
                  <a:srgbClr val="FFFFFF"/>
                </a:solidFill>
                <a:latin typeface="Calibri" pitchFamily="34" charset="0"/>
                <a:ea typeface="Calibri" pitchFamily="34" charset="-122"/>
                <a:cs typeface="Calibri" pitchFamily="34" charset="-120"/>
              </a:rPr>
              <a:t> </a:t>
            </a:r>
            <a:r>
              <a:rPr lang="en-US" sz="1200" b="1" dirty="0" err="1">
                <a:solidFill>
                  <a:srgbClr val="FFFFFF"/>
                </a:solidFill>
                <a:latin typeface="Calibri" pitchFamily="34" charset="0"/>
                <a:ea typeface="Calibri" pitchFamily="34" charset="-122"/>
                <a:cs typeface="Calibri" pitchFamily="34" charset="-120"/>
              </a:rPr>
              <a:t>μ</a:t>
            </a:r>
            <a:r>
              <a:rPr lang="en-US" sz="600" b="1" dirty="0" err="1">
                <a:solidFill>
                  <a:srgbClr val="FFFFFF"/>
                </a:solidFill>
                <a:latin typeface="Calibri" pitchFamily="34" charset="0"/>
                <a:ea typeface="Calibri" pitchFamily="34" charset="-122"/>
                <a:cs typeface="Calibri" pitchFamily="34" charset="-120"/>
              </a:rPr>
              <a:t>HT</a:t>
            </a:r>
            <a:endParaRPr lang="en-US" sz="1000" dirty="0"/>
          </a:p>
        </p:txBody>
      </p:sp>
      <p:sp>
        <p:nvSpPr>
          <p:cNvPr id="15" name="Text 12"/>
          <p:cNvSpPr/>
          <p:nvPr/>
        </p:nvSpPr>
        <p:spPr>
          <a:xfrm>
            <a:off x="4800600" y="1536192"/>
            <a:ext cx="3977640" cy="1005840"/>
          </a:xfrm>
          <a:prstGeom prst="rect">
            <a:avLst/>
          </a:prstGeom>
          <a:noFill/>
          <a:ln/>
        </p:spPr>
        <p:txBody>
          <a:bodyPr wrap="square" lIns="0" tIns="0" rIns="0" bIns="0" rtlCol="0" anchor="ctr"/>
          <a:lstStyle/>
          <a:p>
            <a:pPr marL="0" indent="0">
              <a:buNone/>
            </a:pPr>
            <a:r>
              <a:rPr lang="en-US" sz="1600" dirty="0">
                <a:solidFill>
                  <a:srgbClr val="1E2761"/>
                </a:solidFill>
                <a:latin typeface="Calibri" pitchFamily="34" charset="0"/>
                <a:ea typeface="Calibri" pitchFamily="34" charset="-122"/>
                <a:cs typeface="Calibri" pitchFamily="34" charset="-120"/>
              </a:rPr>
              <a:t>Sites requiring HT grid upgrades take significantly longer to deploy than LT sites. The HT upgrade structurally adds a delay penalty to the total cycle time.</a:t>
            </a:r>
            <a:endParaRPr lang="en-US" sz="1600" dirty="0"/>
          </a:p>
        </p:txBody>
      </p:sp>
      <p:sp>
        <p:nvSpPr>
          <p:cNvPr id="16" name="Shape 13"/>
          <p:cNvSpPr/>
          <p:nvPr/>
        </p:nvSpPr>
        <p:spPr>
          <a:xfrm>
            <a:off x="274320" y="2743200"/>
            <a:ext cx="8595360" cy="292608"/>
          </a:xfrm>
          <a:prstGeom prst="rect">
            <a:avLst/>
          </a:prstGeom>
          <a:solidFill>
            <a:srgbClr val="16A085"/>
          </a:solidFill>
          <a:ln w="12700">
            <a:solidFill>
              <a:srgbClr val="16A085"/>
            </a:solidFill>
            <a:prstDash val="solid"/>
          </a:ln>
        </p:spPr>
        <p:txBody>
          <a:bodyPr/>
          <a:lstStyle/>
          <a:p>
            <a:endParaRPr lang="en-IN"/>
          </a:p>
        </p:txBody>
      </p:sp>
      <p:sp>
        <p:nvSpPr>
          <p:cNvPr id="17" name="Text 14"/>
          <p:cNvSpPr/>
          <p:nvPr/>
        </p:nvSpPr>
        <p:spPr>
          <a:xfrm>
            <a:off x="411480" y="2752344"/>
            <a:ext cx="832104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2. The Statistical Result</a:t>
            </a:r>
            <a:endParaRPr lang="en-US" sz="1200" dirty="0"/>
          </a:p>
        </p:txBody>
      </p:sp>
      <p:sp>
        <p:nvSpPr>
          <p:cNvPr id="18" name="Shape 15"/>
          <p:cNvSpPr/>
          <p:nvPr/>
        </p:nvSpPr>
        <p:spPr>
          <a:xfrm>
            <a:off x="274320" y="3072384"/>
            <a:ext cx="4160520" cy="914400"/>
          </a:xfrm>
          <a:prstGeom prst="rect">
            <a:avLst/>
          </a:prstGeom>
          <a:solidFill>
            <a:srgbClr val="FFFFFF"/>
          </a:solidFill>
          <a:ln w="19050">
            <a:solidFill>
              <a:srgbClr val="16A085"/>
            </a:solidFill>
            <a:prstDash val="solid"/>
          </a:ln>
        </p:spPr>
        <p:txBody>
          <a:bodyPr/>
          <a:lstStyle/>
          <a:p>
            <a:endParaRPr lang="en-IN"/>
          </a:p>
        </p:txBody>
      </p:sp>
      <p:sp>
        <p:nvSpPr>
          <p:cNvPr id="19" name="Text 16"/>
          <p:cNvSpPr/>
          <p:nvPr/>
        </p:nvSpPr>
        <p:spPr>
          <a:xfrm>
            <a:off x="411480" y="3145536"/>
            <a:ext cx="2194560" cy="772668"/>
          </a:xfrm>
          <a:prstGeom prst="rect">
            <a:avLst/>
          </a:prstGeom>
          <a:noFill/>
          <a:ln/>
        </p:spPr>
        <p:txBody>
          <a:bodyPr wrap="square" lIns="0" tIns="0" rIns="0" bIns="0" rtlCol="0" anchor="ctr"/>
          <a:lstStyle/>
          <a:p>
            <a:pPr marL="0" indent="0">
              <a:buNone/>
            </a:pPr>
            <a:r>
              <a:rPr lang="en-US" sz="2000" b="1" dirty="0">
                <a:solidFill>
                  <a:srgbClr val="334155"/>
                </a:solidFill>
                <a:latin typeface="Calibri" pitchFamily="34" charset="0"/>
                <a:ea typeface="Calibri" pitchFamily="34" charset="-122"/>
                <a:cs typeface="Calibri" pitchFamily="34" charset="-120"/>
              </a:rPr>
              <a:t>Calculated p-value:</a:t>
            </a:r>
            <a:endParaRPr lang="en-US" sz="2000" b="1" dirty="0"/>
          </a:p>
        </p:txBody>
      </p:sp>
      <p:sp>
        <p:nvSpPr>
          <p:cNvPr id="20" name="Text 17"/>
          <p:cNvSpPr/>
          <p:nvPr/>
        </p:nvSpPr>
        <p:spPr>
          <a:xfrm>
            <a:off x="2606040" y="3090672"/>
            <a:ext cx="1737360" cy="864108"/>
          </a:xfrm>
          <a:prstGeom prst="rect">
            <a:avLst/>
          </a:prstGeom>
          <a:noFill/>
          <a:ln/>
        </p:spPr>
        <p:txBody>
          <a:bodyPr wrap="square" lIns="0" tIns="0" rIns="0" bIns="0" rtlCol="0" anchor="ctr"/>
          <a:lstStyle/>
          <a:p>
            <a:pPr marL="0" indent="0" algn="ctr">
              <a:buNone/>
            </a:pPr>
            <a:r>
              <a:rPr lang="en-US" sz="2800" b="1" dirty="0">
                <a:solidFill>
                  <a:srgbClr val="16A085"/>
                </a:solidFill>
                <a:latin typeface="Calibri" pitchFamily="34" charset="0"/>
                <a:ea typeface="Calibri" pitchFamily="34" charset="-122"/>
                <a:cs typeface="Calibri" pitchFamily="34" charset="-120"/>
              </a:rPr>
              <a:t>p &lt; 0.05</a:t>
            </a:r>
            <a:endParaRPr lang="en-US" sz="2800" dirty="0"/>
          </a:p>
        </p:txBody>
      </p:sp>
      <p:sp>
        <p:nvSpPr>
          <p:cNvPr id="21" name="Shape 18"/>
          <p:cNvSpPr/>
          <p:nvPr/>
        </p:nvSpPr>
        <p:spPr>
          <a:xfrm>
            <a:off x="4709160" y="3072384"/>
            <a:ext cx="4160520" cy="914400"/>
          </a:xfrm>
          <a:prstGeom prst="rect">
            <a:avLst/>
          </a:prstGeom>
          <a:solidFill>
            <a:srgbClr val="FFFFFF"/>
          </a:solidFill>
          <a:ln w="19050">
            <a:solidFill>
              <a:srgbClr val="16A085"/>
            </a:solidFill>
            <a:prstDash val="solid"/>
          </a:ln>
        </p:spPr>
        <p:txBody>
          <a:bodyPr/>
          <a:lstStyle/>
          <a:p>
            <a:endParaRPr lang="en-IN"/>
          </a:p>
        </p:txBody>
      </p:sp>
      <p:sp>
        <p:nvSpPr>
          <p:cNvPr id="22" name="Text 19"/>
          <p:cNvSpPr/>
          <p:nvPr/>
        </p:nvSpPr>
        <p:spPr>
          <a:xfrm>
            <a:off x="4846320" y="3145536"/>
            <a:ext cx="2286000" cy="772668"/>
          </a:xfrm>
          <a:prstGeom prst="rect">
            <a:avLst/>
          </a:prstGeom>
          <a:noFill/>
          <a:ln/>
        </p:spPr>
        <p:txBody>
          <a:bodyPr wrap="square" lIns="0" tIns="0" rIns="0" bIns="0" rtlCol="0" anchor="ctr"/>
          <a:lstStyle/>
          <a:p>
            <a:pPr marL="0" indent="0">
              <a:buNone/>
            </a:pPr>
            <a:r>
              <a:rPr lang="en-US" sz="2000" b="1" dirty="0">
                <a:solidFill>
                  <a:srgbClr val="334155"/>
                </a:solidFill>
                <a:latin typeface="Calibri" pitchFamily="34" charset="0"/>
                <a:ea typeface="Calibri" pitchFamily="34" charset="-122"/>
                <a:cs typeface="Calibri" pitchFamily="34" charset="-120"/>
              </a:rPr>
              <a:t>Statistical Decision:</a:t>
            </a:r>
            <a:endParaRPr lang="en-US" sz="2000" b="1" dirty="0"/>
          </a:p>
        </p:txBody>
      </p:sp>
      <p:sp>
        <p:nvSpPr>
          <p:cNvPr id="23" name="Text 20"/>
          <p:cNvSpPr/>
          <p:nvPr/>
        </p:nvSpPr>
        <p:spPr>
          <a:xfrm>
            <a:off x="6858000" y="3090672"/>
            <a:ext cx="1920240" cy="909828"/>
          </a:xfrm>
          <a:prstGeom prst="rect">
            <a:avLst/>
          </a:prstGeom>
          <a:noFill/>
          <a:ln/>
        </p:spPr>
        <p:txBody>
          <a:bodyPr wrap="square" lIns="0" tIns="0" rIns="0" bIns="0" rtlCol="0" anchor="ctr"/>
          <a:lstStyle/>
          <a:p>
            <a:pPr marL="0" indent="0" algn="ctr">
              <a:buNone/>
            </a:pPr>
            <a:r>
              <a:rPr lang="en-US" sz="2600" b="1" dirty="0">
                <a:solidFill>
                  <a:srgbClr val="16A085"/>
                </a:solidFill>
                <a:latin typeface="Calibri" pitchFamily="34" charset="0"/>
                <a:ea typeface="Calibri" pitchFamily="34" charset="-122"/>
                <a:cs typeface="Calibri" pitchFamily="34" charset="-120"/>
              </a:rPr>
              <a:t>Reject H₀</a:t>
            </a:r>
            <a:endParaRPr lang="en-US" sz="2600" dirty="0"/>
          </a:p>
        </p:txBody>
      </p:sp>
      <p:sp>
        <p:nvSpPr>
          <p:cNvPr id="24" name="Shape 21"/>
          <p:cNvSpPr/>
          <p:nvPr/>
        </p:nvSpPr>
        <p:spPr>
          <a:xfrm>
            <a:off x="0" y="4187952"/>
            <a:ext cx="9144000" cy="658368"/>
          </a:xfrm>
          <a:prstGeom prst="rect">
            <a:avLst/>
          </a:prstGeom>
          <a:solidFill>
            <a:srgbClr val="1C2B4A"/>
          </a:solidFill>
          <a:ln w="12700">
            <a:solidFill>
              <a:srgbClr val="1C2B4A"/>
            </a:solidFill>
            <a:prstDash val="solid"/>
          </a:ln>
        </p:spPr>
        <p:txBody>
          <a:bodyPr/>
          <a:lstStyle/>
          <a:p>
            <a:endParaRPr lang="en-IN"/>
          </a:p>
        </p:txBody>
      </p:sp>
      <p:sp>
        <p:nvSpPr>
          <p:cNvPr id="25" name="Text 22"/>
          <p:cNvSpPr/>
          <p:nvPr/>
        </p:nvSpPr>
        <p:spPr>
          <a:xfrm>
            <a:off x="182880" y="4206240"/>
            <a:ext cx="8778240" cy="621792"/>
          </a:xfrm>
          <a:prstGeom prst="rect">
            <a:avLst/>
          </a:prstGeom>
          <a:noFill/>
          <a:ln/>
        </p:spPr>
        <p:txBody>
          <a:bodyPr wrap="square" lIns="0" tIns="0" rIns="0" bIns="0" rtlCol="0" anchor="ctr"/>
          <a:lstStyle/>
          <a:p>
            <a:pPr marL="0" indent="0">
              <a:buNone/>
            </a:pPr>
            <a:r>
              <a:rPr lang="en-US" sz="950" b="1" dirty="0">
                <a:solidFill>
                  <a:srgbClr val="0D9488"/>
                </a:solidFill>
                <a:latin typeface="Calibri" pitchFamily="34" charset="0"/>
                <a:ea typeface="Calibri" pitchFamily="34" charset="-122"/>
                <a:cs typeface="Calibri" pitchFamily="34" charset="-120"/>
              </a:rPr>
              <a:t>BUSINESS TRANSLATION: </a:t>
            </a:r>
            <a:r>
              <a:rPr lang="en-US" sz="950" dirty="0">
                <a:solidFill>
                  <a:srgbClr val="FFFFFF"/>
                </a:solidFill>
                <a:latin typeface="Calibri" pitchFamily="34" charset="0"/>
                <a:ea typeface="Calibri" pitchFamily="34" charset="-122"/>
                <a:cs typeface="Calibri" pitchFamily="34" charset="-120"/>
              </a:rPr>
              <a:t>Because our p-value is less than 0.05, we mathematically reject the idea that grid load doesn't matter. We have validated with 95%+ confidence that </a:t>
            </a:r>
            <a:r>
              <a:rPr lang="en-US" sz="950" b="1" dirty="0">
                <a:solidFill>
                  <a:srgbClr val="0D9488"/>
                </a:solidFill>
                <a:latin typeface="Calibri" pitchFamily="34" charset="0"/>
                <a:ea typeface="Calibri" pitchFamily="34" charset="-122"/>
                <a:cs typeface="Calibri" pitchFamily="34" charset="-120"/>
              </a:rPr>
              <a:t>blind site selection (picking locations without existing LT capacity) is a statistically significant root cause of cycle-time failure.</a:t>
            </a:r>
            <a:r>
              <a:rPr lang="en-US" sz="950" dirty="0">
                <a:solidFill>
                  <a:srgbClr val="FFFFFF"/>
                </a:solidFill>
                <a:latin typeface="Calibri" pitchFamily="34" charset="0"/>
                <a:ea typeface="Calibri" pitchFamily="34" charset="-122"/>
                <a:cs typeface="Calibri" pitchFamily="34" charset="-120"/>
              </a:rPr>
              <a:t> Our Improve phase must focus on upfront grid visibility.</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C2B4A"/>
          </a:solidFill>
          <a:ln w="12700">
            <a:solidFill>
              <a:srgbClr val="1C2B4A"/>
            </a:solidFill>
            <a:prstDash val="solid"/>
          </a:ln>
        </p:spPr>
        <p:txBody>
          <a:bodyPr/>
          <a:lstStyle/>
          <a:p>
            <a:endParaRPr lang="en-IN"/>
          </a:p>
        </p:txBody>
      </p:sp>
      <p:sp>
        <p:nvSpPr>
          <p:cNvPr id="3" name="Text 1"/>
          <p:cNvSpPr/>
          <p:nvPr/>
        </p:nvSpPr>
        <p:spPr>
          <a:xfrm>
            <a:off x="274320" y="91440"/>
            <a:ext cx="7132320"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PROCESS PERFORMANCE — Regression &amp; Correlation</a:t>
            </a:r>
            <a:endParaRPr lang="en-US" sz="1400" dirty="0"/>
          </a:p>
        </p:txBody>
      </p:sp>
      <p:sp>
        <p:nvSpPr>
          <p:cNvPr id="5" name="Text 2"/>
          <p:cNvSpPr/>
          <p:nvPr/>
        </p:nvSpPr>
        <p:spPr>
          <a:xfrm>
            <a:off x="274320" y="566928"/>
            <a:ext cx="8595360" cy="256032"/>
          </a:xfrm>
          <a:prstGeom prst="rect">
            <a:avLst/>
          </a:prstGeom>
          <a:noFill/>
          <a:ln/>
        </p:spPr>
        <p:txBody>
          <a:bodyPr wrap="square" lIns="0" tIns="0" rIns="0" bIns="0" rtlCol="0" anchor="ctr"/>
          <a:lstStyle/>
          <a:p>
            <a:pPr marL="0" indent="0">
              <a:buNone/>
            </a:pPr>
            <a:r>
              <a:rPr lang="en-US" sz="1050" i="1" dirty="0">
                <a:solidFill>
                  <a:srgbClr val="2563A8"/>
                </a:solidFill>
                <a:latin typeface="Calibri" pitchFamily="34" charset="0"/>
                <a:ea typeface="Calibri" pitchFamily="34" charset="-122"/>
                <a:cs typeface="Calibri" pitchFamily="34" charset="-120"/>
              </a:rPr>
              <a:t>Measuring the Impact of Administrative Friction on Total Cycle Time</a:t>
            </a:r>
            <a:endParaRPr lang="en-US" sz="1050" dirty="0"/>
          </a:p>
        </p:txBody>
      </p:sp>
      <p:sp>
        <p:nvSpPr>
          <p:cNvPr id="6" name="Shape 3"/>
          <p:cNvSpPr/>
          <p:nvPr/>
        </p:nvSpPr>
        <p:spPr>
          <a:xfrm>
            <a:off x="228600" y="868680"/>
            <a:ext cx="4983480" cy="274320"/>
          </a:xfrm>
          <a:prstGeom prst="rect">
            <a:avLst/>
          </a:prstGeom>
          <a:solidFill>
            <a:srgbClr val="2563A8"/>
          </a:solidFill>
          <a:ln w="12700">
            <a:solidFill>
              <a:srgbClr val="2563A8"/>
            </a:solidFill>
            <a:prstDash val="solid"/>
          </a:ln>
        </p:spPr>
        <p:txBody>
          <a:bodyPr/>
          <a:lstStyle/>
          <a:p>
            <a:endParaRPr lang="en-IN"/>
          </a:p>
        </p:txBody>
      </p:sp>
      <p:sp>
        <p:nvSpPr>
          <p:cNvPr id="7" name="Text 4"/>
          <p:cNvSpPr/>
          <p:nvPr/>
        </p:nvSpPr>
        <p:spPr>
          <a:xfrm>
            <a:off x="320040" y="877824"/>
            <a:ext cx="480060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1. Regression Scatter Plot</a:t>
            </a:r>
            <a:endParaRPr lang="en-US" sz="1100" dirty="0"/>
          </a:p>
        </p:txBody>
      </p:sp>
      <p:pic>
        <p:nvPicPr>
          <p:cNvPr id="8" name="Image 1" descr="preencoded.png"/>
          <p:cNvPicPr>
            <a:picLocks noChangeAspect="1"/>
          </p:cNvPicPr>
          <p:nvPr/>
        </p:nvPicPr>
        <p:blipFill>
          <a:blip r:embed="rId3"/>
          <a:stretch>
            <a:fillRect/>
          </a:stretch>
        </p:blipFill>
        <p:spPr>
          <a:xfrm>
            <a:off x="182880" y="1170432"/>
            <a:ext cx="5029200" cy="2926080"/>
          </a:xfrm>
          <a:prstGeom prst="rect">
            <a:avLst/>
          </a:prstGeom>
        </p:spPr>
      </p:pic>
      <p:sp>
        <p:nvSpPr>
          <p:cNvPr id="9" name="Shape 5"/>
          <p:cNvSpPr/>
          <p:nvPr/>
        </p:nvSpPr>
        <p:spPr>
          <a:xfrm>
            <a:off x="5440680" y="868680"/>
            <a:ext cx="3474720" cy="274320"/>
          </a:xfrm>
          <a:prstGeom prst="rect">
            <a:avLst/>
          </a:prstGeom>
          <a:solidFill>
            <a:srgbClr val="0D9488"/>
          </a:solidFill>
          <a:ln w="12700">
            <a:solidFill>
              <a:srgbClr val="0D9488"/>
            </a:solidFill>
            <a:prstDash val="solid"/>
          </a:ln>
        </p:spPr>
        <p:txBody>
          <a:bodyPr/>
          <a:lstStyle/>
          <a:p>
            <a:endParaRPr lang="en-IN"/>
          </a:p>
        </p:txBody>
      </p:sp>
      <p:sp>
        <p:nvSpPr>
          <p:cNvPr id="10" name="Text 6"/>
          <p:cNvSpPr/>
          <p:nvPr/>
        </p:nvSpPr>
        <p:spPr>
          <a:xfrm>
            <a:off x="5532120" y="877824"/>
            <a:ext cx="329184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2. Process Capability Results</a:t>
            </a:r>
            <a:endParaRPr lang="en-US" sz="1100" dirty="0"/>
          </a:p>
        </p:txBody>
      </p:sp>
      <p:sp>
        <p:nvSpPr>
          <p:cNvPr id="11" name="Shape 7"/>
          <p:cNvSpPr/>
          <p:nvPr/>
        </p:nvSpPr>
        <p:spPr>
          <a:xfrm>
            <a:off x="5440680" y="1207008"/>
            <a:ext cx="3474720" cy="502920"/>
          </a:xfrm>
          <a:prstGeom prst="rect">
            <a:avLst/>
          </a:prstGeom>
          <a:solidFill>
            <a:srgbClr val="FFFFFF"/>
          </a:solidFill>
          <a:ln w="9525">
            <a:solidFill>
              <a:srgbClr val="0D9488"/>
            </a:solidFill>
            <a:prstDash val="solid"/>
          </a:ln>
        </p:spPr>
        <p:txBody>
          <a:bodyPr/>
          <a:lstStyle/>
          <a:p>
            <a:endParaRPr lang="en-IN"/>
          </a:p>
        </p:txBody>
      </p:sp>
      <p:sp>
        <p:nvSpPr>
          <p:cNvPr id="12" name="Text 8"/>
          <p:cNvSpPr/>
          <p:nvPr/>
        </p:nvSpPr>
        <p:spPr>
          <a:xfrm>
            <a:off x="5577840" y="1234440"/>
            <a:ext cx="3291840" cy="219456"/>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Correlation Type</a:t>
            </a:r>
            <a:endParaRPr lang="en-US" sz="950" dirty="0"/>
          </a:p>
        </p:txBody>
      </p:sp>
      <p:sp>
        <p:nvSpPr>
          <p:cNvPr id="13" name="Text 9"/>
          <p:cNvSpPr/>
          <p:nvPr/>
        </p:nvSpPr>
        <p:spPr>
          <a:xfrm>
            <a:off x="5577840" y="1444752"/>
            <a:ext cx="3291840" cy="256032"/>
          </a:xfrm>
          <a:prstGeom prst="rect">
            <a:avLst/>
          </a:prstGeom>
          <a:noFill/>
          <a:ln/>
        </p:spPr>
        <p:txBody>
          <a:bodyPr wrap="square" lIns="0" tIns="0" rIns="0" bIns="0" rtlCol="0" anchor="ctr"/>
          <a:lstStyle/>
          <a:p>
            <a:pPr marL="0" indent="0">
              <a:buNone/>
            </a:pPr>
            <a:r>
              <a:rPr lang="en-US" sz="1300" b="1" dirty="0">
                <a:solidFill>
                  <a:srgbClr val="1C2B4A"/>
                </a:solidFill>
                <a:latin typeface="Calibri" pitchFamily="34" charset="0"/>
                <a:ea typeface="Calibri" pitchFamily="34" charset="-122"/>
                <a:cs typeface="Calibri" pitchFamily="34" charset="-120"/>
              </a:rPr>
              <a:t>Strong Positive</a:t>
            </a:r>
            <a:endParaRPr lang="en-US" sz="1300" dirty="0"/>
          </a:p>
        </p:txBody>
      </p:sp>
      <p:sp>
        <p:nvSpPr>
          <p:cNvPr id="14" name="Shape 10"/>
          <p:cNvSpPr/>
          <p:nvPr/>
        </p:nvSpPr>
        <p:spPr>
          <a:xfrm>
            <a:off x="5440680" y="1773936"/>
            <a:ext cx="3474720" cy="502920"/>
          </a:xfrm>
          <a:prstGeom prst="rect">
            <a:avLst/>
          </a:prstGeom>
          <a:solidFill>
            <a:srgbClr val="FFFFFF"/>
          </a:solidFill>
          <a:ln w="9525">
            <a:solidFill>
              <a:srgbClr val="0D9488"/>
            </a:solidFill>
            <a:prstDash val="solid"/>
          </a:ln>
        </p:spPr>
        <p:txBody>
          <a:bodyPr/>
          <a:lstStyle/>
          <a:p>
            <a:endParaRPr lang="en-IN"/>
          </a:p>
        </p:txBody>
      </p:sp>
      <p:sp>
        <p:nvSpPr>
          <p:cNvPr id="15" name="Text 11"/>
          <p:cNvSpPr/>
          <p:nvPr/>
        </p:nvSpPr>
        <p:spPr>
          <a:xfrm>
            <a:off x="5577840" y="1801368"/>
            <a:ext cx="3291840" cy="219456"/>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R² Coefficient</a:t>
            </a:r>
            <a:endParaRPr lang="en-US" sz="950" dirty="0"/>
          </a:p>
        </p:txBody>
      </p:sp>
      <p:sp>
        <p:nvSpPr>
          <p:cNvPr id="16" name="Text 12"/>
          <p:cNvSpPr/>
          <p:nvPr/>
        </p:nvSpPr>
        <p:spPr>
          <a:xfrm>
            <a:off x="5577840" y="2011680"/>
            <a:ext cx="3291840" cy="256032"/>
          </a:xfrm>
          <a:prstGeom prst="rect">
            <a:avLst/>
          </a:prstGeom>
          <a:noFill/>
          <a:ln/>
        </p:spPr>
        <p:txBody>
          <a:bodyPr wrap="square" lIns="0" tIns="0" rIns="0" bIns="0" rtlCol="0" anchor="ctr"/>
          <a:lstStyle/>
          <a:p>
            <a:pPr marL="0" indent="0">
              <a:buNone/>
            </a:pPr>
            <a:r>
              <a:rPr lang="en-US" sz="1300" b="1" dirty="0">
                <a:solidFill>
                  <a:srgbClr val="1C2B4A"/>
                </a:solidFill>
                <a:latin typeface="Calibri" pitchFamily="34" charset="0"/>
                <a:ea typeface="Calibri" pitchFamily="34" charset="-122"/>
                <a:cs typeface="Calibri" pitchFamily="34" charset="-120"/>
              </a:rPr>
              <a:t>0.85</a:t>
            </a:r>
            <a:endParaRPr lang="en-US" sz="1300" dirty="0"/>
          </a:p>
        </p:txBody>
      </p:sp>
      <p:sp>
        <p:nvSpPr>
          <p:cNvPr id="17" name="Shape 13"/>
          <p:cNvSpPr/>
          <p:nvPr/>
        </p:nvSpPr>
        <p:spPr>
          <a:xfrm>
            <a:off x="5440680" y="2340864"/>
            <a:ext cx="3474720" cy="502920"/>
          </a:xfrm>
          <a:prstGeom prst="rect">
            <a:avLst/>
          </a:prstGeom>
          <a:solidFill>
            <a:srgbClr val="FFFFFF"/>
          </a:solidFill>
          <a:ln w="9525">
            <a:solidFill>
              <a:srgbClr val="0D9488"/>
            </a:solidFill>
            <a:prstDash val="solid"/>
          </a:ln>
        </p:spPr>
        <p:txBody>
          <a:bodyPr/>
          <a:lstStyle/>
          <a:p>
            <a:endParaRPr lang="en-IN"/>
          </a:p>
        </p:txBody>
      </p:sp>
      <p:sp>
        <p:nvSpPr>
          <p:cNvPr id="18" name="Text 14"/>
          <p:cNvSpPr/>
          <p:nvPr/>
        </p:nvSpPr>
        <p:spPr>
          <a:xfrm>
            <a:off x="5577840" y="2368296"/>
            <a:ext cx="3291840" cy="219456"/>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Equation of Line</a:t>
            </a:r>
            <a:endParaRPr lang="en-US" sz="950" dirty="0"/>
          </a:p>
        </p:txBody>
      </p:sp>
      <p:sp>
        <p:nvSpPr>
          <p:cNvPr id="19" name="Text 15"/>
          <p:cNvSpPr/>
          <p:nvPr/>
        </p:nvSpPr>
        <p:spPr>
          <a:xfrm>
            <a:off x="5577840" y="2578608"/>
            <a:ext cx="3291840" cy="256032"/>
          </a:xfrm>
          <a:prstGeom prst="rect">
            <a:avLst/>
          </a:prstGeom>
          <a:noFill/>
          <a:ln/>
        </p:spPr>
        <p:txBody>
          <a:bodyPr wrap="square" lIns="0" tIns="0" rIns="0" bIns="0" rtlCol="0" anchor="ctr"/>
          <a:lstStyle/>
          <a:p>
            <a:pPr marL="0" indent="0">
              <a:buNone/>
            </a:pPr>
            <a:r>
              <a:rPr lang="en-US" sz="1300" b="1" dirty="0">
                <a:solidFill>
                  <a:srgbClr val="1C2B4A"/>
                </a:solidFill>
                <a:latin typeface="Calibri" pitchFamily="34" charset="0"/>
                <a:ea typeface="Calibri" pitchFamily="34" charset="-122"/>
                <a:cs typeface="Calibri" pitchFamily="34" charset="-120"/>
              </a:rPr>
              <a:t>Y = 1.05x + 30</a:t>
            </a:r>
            <a:endParaRPr lang="en-US" sz="1300" dirty="0"/>
          </a:p>
        </p:txBody>
      </p:sp>
      <p:sp>
        <p:nvSpPr>
          <p:cNvPr id="20" name="Shape 16"/>
          <p:cNvSpPr/>
          <p:nvPr/>
        </p:nvSpPr>
        <p:spPr>
          <a:xfrm>
            <a:off x="5440680" y="2926080"/>
            <a:ext cx="3474720" cy="256032"/>
          </a:xfrm>
          <a:prstGeom prst="rect">
            <a:avLst/>
          </a:prstGeom>
          <a:solidFill>
            <a:srgbClr val="E07B39"/>
          </a:solidFill>
          <a:ln w="12700">
            <a:solidFill>
              <a:srgbClr val="E07B39"/>
            </a:solidFill>
            <a:prstDash val="solid"/>
          </a:ln>
        </p:spPr>
        <p:txBody>
          <a:bodyPr/>
          <a:lstStyle/>
          <a:p>
            <a:endParaRPr lang="en-IN"/>
          </a:p>
        </p:txBody>
      </p:sp>
      <p:sp>
        <p:nvSpPr>
          <p:cNvPr id="21" name="Text 17"/>
          <p:cNvSpPr/>
          <p:nvPr/>
        </p:nvSpPr>
        <p:spPr>
          <a:xfrm>
            <a:off x="5532120" y="2935224"/>
            <a:ext cx="3291840" cy="237744"/>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3. Actionable Business Insight</a:t>
            </a:r>
            <a:endParaRPr lang="en-US" sz="1050" dirty="0"/>
          </a:p>
        </p:txBody>
      </p:sp>
      <p:sp>
        <p:nvSpPr>
          <p:cNvPr id="22" name="Text 18"/>
          <p:cNvSpPr/>
          <p:nvPr/>
        </p:nvSpPr>
        <p:spPr>
          <a:xfrm>
            <a:off x="5440680" y="3218688"/>
            <a:ext cx="3474720" cy="877824"/>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An R² of 0.85 indicates that 85% of total variation in our deployment timeline is directly explained by time spent waiting in Municipal and DISCOM approval loops. The remaining 15% is attributed to minor physical factors, confirming that process optimisation must be strictly administrative.</a:t>
            </a:r>
            <a:endParaRPr lang="en-US" sz="950" dirty="0"/>
          </a:p>
        </p:txBody>
      </p:sp>
      <p:sp>
        <p:nvSpPr>
          <p:cNvPr id="23" name="Shape 19"/>
          <p:cNvSpPr/>
          <p:nvPr/>
        </p:nvSpPr>
        <p:spPr>
          <a:xfrm>
            <a:off x="0" y="4251960"/>
            <a:ext cx="9144000" cy="548640"/>
          </a:xfrm>
          <a:prstGeom prst="rect">
            <a:avLst/>
          </a:prstGeom>
          <a:solidFill>
            <a:srgbClr val="1C2B4A"/>
          </a:solidFill>
          <a:ln w="12700">
            <a:solidFill>
              <a:srgbClr val="1C2B4A"/>
            </a:solidFill>
            <a:prstDash val="solid"/>
          </a:ln>
        </p:spPr>
        <p:txBody>
          <a:bodyPr/>
          <a:lstStyle/>
          <a:p>
            <a:endParaRPr lang="en-IN"/>
          </a:p>
        </p:txBody>
      </p:sp>
      <p:sp>
        <p:nvSpPr>
          <p:cNvPr id="24" name="Text 20"/>
          <p:cNvSpPr/>
          <p:nvPr/>
        </p:nvSpPr>
        <p:spPr>
          <a:xfrm>
            <a:off x="182880" y="4279392"/>
            <a:ext cx="8778240" cy="50292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CAPABILITY CONCLUSION: Our physical engineering process is highly capable and stable (baseline ~30 days). The extreme volatility in our system is purely an administrative defect.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B"/>
        </a:solidFill>
        <a:effectLst/>
      </p:bgPr>
    </p:bg>
    <p:spTree>
      <p:nvGrpSpPr>
        <p:cNvPr id="1" name=""/>
        <p:cNvGrpSpPr/>
        <p:nvPr/>
      </p:nvGrpSpPr>
      <p:grpSpPr>
        <a:xfrm>
          <a:off x="0" y="0"/>
          <a:ext cx="0" cy="0"/>
          <a:chOff x="0" y="0"/>
          <a:chExt cx="0" cy="0"/>
        </a:xfrm>
      </p:grpSpPr>
      <p:pic>
        <p:nvPicPr>
          <p:cNvPr id="6" name="Image 1" descr="preencoded.png"/>
          <p:cNvPicPr>
            <a:picLocks noChangeAspect="1"/>
          </p:cNvPicPr>
          <p:nvPr/>
        </p:nvPicPr>
        <p:blipFill>
          <a:blip r:embed="rId3"/>
          <a:srcRect l="1996" r="1271"/>
          <a:stretch>
            <a:fillRect/>
          </a:stretch>
        </p:blipFill>
        <p:spPr>
          <a:xfrm>
            <a:off x="2145793" y="629785"/>
            <a:ext cx="6998208" cy="4040555"/>
          </a:xfrm>
          <a:prstGeom prst="rect">
            <a:avLst/>
          </a:prstGeom>
        </p:spPr>
      </p:pic>
      <p:sp>
        <p:nvSpPr>
          <p:cNvPr id="2" name="Shape 0"/>
          <p:cNvSpPr/>
          <p:nvPr/>
        </p:nvSpPr>
        <p:spPr>
          <a:xfrm>
            <a:off x="0" y="0"/>
            <a:ext cx="9144000" cy="530352"/>
          </a:xfrm>
          <a:prstGeom prst="rect">
            <a:avLst/>
          </a:prstGeom>
          <a:solidFill>
            <a:srgbClr val="1C2B4A"/>
          </a:solidFill>
          <a:ln w="12700">
            <a:solidFill>
              <a:srgbClr val="1C2B4A"/>
            </a:solidFill>
            <a:prstDash val="solid"/>
          </a:ln>
        </p:spPr>
        <p:txBody>
          <a:bodyPr/>
          <a:lstStyle/>
          <a:p>
            <a:endParaRPr lang="en-IN"/>
          </a:p>
        </p:txBody>
      </p:sp>
      <p:sp>
        <p:nvSpPr>
          <p:cNvPr id="3" name="Text 1"/>
          <p:cNvSpPr/>
          <p:nvPr/>
        </p:nvSpPr>
        <p:spPr>
          <a:xfrm>
            <a:off x="274320" y="91440"/>
            <a:ext cx="7132320"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VERIFIED ROOT CAUSES — Fishbone Analysis &amp; Problem Zones</a:t>
            </a:r>
            <a:endParaRPr lang="en-US" sz="1400" dirty="0"/>
          </a:p>
        </p:txBody>
      </p:sp>
      <p:sp>
        <p:nvSpPr>
          <p:cNvPr id="5" name="Text 2"/>
          <p:cNvSpPr/>
          <p:nvPr/>
        </p:nvSpPr>
        <p:spPr>
          <a:xfrm>
            <a:off x="2590800" y="688044"/>
            <a:ext cx="3511296" cy="256032"/>
          </a:xfrm>
          <a:prstGeom prst="rect">
            <a:avLst/>
          </a:prstGeom>
          <a:noFill/>
          <a:ln/>
        </p:spPr>
        <p:txBody>
          <a:bodyPr wrap="square" lIns="0" tIns="0" rIns="0" bIns="0" rtlCol="0" anchor="ctr"/>
          <a:lstStyle/>
          <a:p>
            <a:pPr marL="0" indent="0">
              <a:buNone/>
            </a:pPr>
            <a:r>
              <a:rPr lang="en-US" sz="1050" i="1" dirty="0">
                <a:solidFill>
                  <a:srgbClr val="2563A8"/>
                </a:solidFill>
                <a:latin typeface="Calibri" pitchFamily="34" charset="0"/>
                <a:ea typeface="Calibri" pitchFamily="34" charset="-122"/>
                <a:cs typeface="Calibri" pitchFamily="34" charset="-120"/>
              </a:rPr>
              <a:t>Isolating the Sources of Administrative Delay (x₂ and x₄)</a:t>
            </a:r>
            <a:endParaRPr lang="en-US" sz="1050" dirty="0"/>
          </a:p>
        </p:txBody>
      </p:sp>
      <p:grpSp>
        <p:nvGrpSpPr>
          <p:cNvPr id="24" name="Group 23">
            <a:extLst>
              <a:ext uri="{FF2B5EF4-FFF2-40B4-BE49-F238E27FC236}">
                <a16:creationId xmlns:a16="http://schemas.microsoft.com/office/drawing/2014/main" id="{4DB2404D-CC5E-87DC-B08C-3AEAC5954DE2}"/>
              </a:ext>
            </a:extLst>
          </p:cNvPr>
          <p:cNvGrpSpPr/>
          <p:nvPr/>
        </p:nvGrpSpPr>
        <p:grpSpPr>
          <a:xfrm>
            <a:off x="100584" y="621792"/>
            <a:ext cx="1906229" cy="4096512"/>
            <a:chOff x="100584" y="466344"/>
            <a:chExt cx="2301240" cy="4251960"/>
          </a:xfrm>
        </p:grpSpPr>
        <p:grpSp>
          <p:nvGrpSpPr>
            <p:cNvPr id="21" name="Group 20">
              <a:extLst>
                <a:ext uri="{FF2B5EF4-FFF2-40B4-BE49-F238E27FC236}">
                  <a16:creationId xmlns:a16="http://schemas.microsoft.com/office/drawing/2014/main" id="{0210086B-4B50-F75E-C807-46F858D74BB6}"/>
                </a:ext>
              </a:extLst>
            </p:cNvPr>
            <p:cNvGrpSpPr/>
            <p:nvPr/>
          </p:nvGrpSpPr>
          <p:grpSpPr>
            <a:xfrm>
              <a:off x="100584" y="466344"/>
              <a:ext cx="2301240" cy="1344168"/>
              <a:chOff x="182880" y="3255264"/>
              <a:chExt cx="2845877" cy="1481328"/>
            </a:xfrm>
          </p:grpSpPr>
          <p:sp>
            <p:nvSpPr>
              <p:cNvPr id="7" name="Shape 3"/>
              <p:cNvSpPr/>
              <p:nvPr/>
            </p:nvSpPr>
            <p:spPr>
              <a:xfrm>
                <a:off x="182880" y="3255264"/>
                <a:ext cx="2845877" cy="1481328"/>
              </a:xfrm>
              <a:prstGeom prst="rect">
                <a:avLst/>
              </a:prstGeom>
              <a:solidFill>
                <a:srgbClr val="FFFFFF"/>
              </a:solidFill>
              <a:ln w="19050">
                <a:solidFill>
                  <a:srgbClr val="C0392B"/>
                </a:solidFill>
                <a:prstDash val="solid"/>
              </a:ln>
            </p:spPr>
            <p:txBody>
              <a:bodyPr/>
              <a:lstStyle/>
              <a:p>
                <a:endParaRPr lang="en-IN"/>
              </a:p>
            </p:txBody>
          </p:sp>
          <p:sp>
            <p:nvSpPr>
              <p:cNvPr id="8" name="Shape 4"/>
              <p:cNvSpPr/>
              <p:nvPr/>
            </p:nvSpPr>
            <p:spPr>
              <a:xfrm>
                <a:off x="182880" y="3255264"/>
                <a:ext cx="2845877" cy="292608"/>
              </a:xfrm>
              <a:prstGeom prst="rect">
                <a:avLst/>
              </a:prstGeom>
              <a:solidFill>
                <a:srgbClr val="C0392B"/>
              </a:solidFill>
              <a:ln w="12700">
                <a:solidFill>
                  <a:srgbClr val="C0392B"/>
                </a:solidFill>
                <a:prstDash val="solid"/>
              </a:ln>
            </p:spPr>
            <p:txBody>
              <a:bodyPr/>
              <a:lstStyle/>
              <a:p>
                <a:endParaRPr lang="en-IN"/>
              </a:p>
            </p:txBody>
          </p:sp>
          <p:sp>
            <p:nvSpPr>
              <p:cNvPr id="9" name="Text 5"/>
              <p:cNvSpPr/>
              <p:nvPr/>
            </p:nvSpPr>
            <p:spPr>
              <a:xfrm>
                <a:off x="256032" y="3264408"/>
                <a:ext cx="2743200" cy="27432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1. The "Handoff" Waste (Muda)</a:t>
                </a:r>
                <a:endParaRPr lang="en-US" sz="1000" dirty="0"/>
              </a:p>
            </p:txBody>
          </p:sp>
          <p:sp>
            <p:nvSpPr>
              <p:cNvPr id="10" name="Text 6"/>
              <p:cNvSpPr/>
              <p:nvPr/>
            </p:nvSpPr>
            <p:spPr>
              <a:xfrm>
                <a:off x="256032" y="3584448"/>
                <a:ext cx="2743200" cy="1097280"/>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Moving files through 5 different municipal survey teams without a "Single Window Clearance" causes severe Overprocessing and idle wait time.</a:t>
                </a:r>
                <a:endParaRPr lang="en-US" sz="1050" dirty="0"/>
              </a:p>
            </p:txBody>
          </p:sp>
        </p:grpSp>
        <p:grpSp>
          <p:nvGrpSpPr>
            <p:cNvPr id="22" name="Group 21">
              <a:extLst>
                <a:ext uri="{FF2B5EF4-FFF2-40B4-BE49-F238E27FC236}">
                  <a16:creationId xmlns:a16="http://schemas.microsoft.com/office/drawing/2014/main" id="{9043D747-13C5-013C-C90D-D2BA1745A6CD}"/>
                </a:ext>
              </a:extLst>
            </p:cNvPr>
            <p:cNvGrpSpPr/>
            <p:nvPr/>
          </p:nvGrpSpPr>
          <p:grpSpPr>
            <a:xfrm>
              <a:off x="100584" y="1920240"/>
              <a:ext cx="2301240" cy="1344168"/>
              <a:chOff x="3172968" y="3255264"/>
              <a:chExt cx="2898648" cy="1481328"/>
            </a:xfrm>
          </p:grpSpPr>
          <p:sp>
            <p:nvSpPr>
              <p:cNvPr id="11" name="Shape 7"/>
              <p:cNvSpPr/>
              <p:nvPr/>
            </p:nvSpPr>
            <p:spPr>
              <a:xfrm>
                <a:off x="3172968" y="3255264"/>
                <a:ext cx="2898648" cy="1481328"/>
              </a:xfrm>
              <a:prstGeom prst="rect">
                <a:avLst/>
              </a:prstGeom>
              <a:solidFill>
                <a:srgbClr val="FFFFFF"/>
              </a:solidFill>
              <a:ln w="19050">
                <a:solidFill>
                  <a:srgbClr val="E07B39"/>
                </a:solidFill>
                <a:prstDash val="solid"/>
              </a:ln>
            </p:spPr>
            <p:txBody>
              <a:bodyPr/>
              <a:lstStyle/>
              <a:p>
                <a:endParaRPr lang="en-IN"/>
              </a:p>
            </p:txBody>
          </p:sp>
          <p:sp>
            <p:nvSpPr>
              <p:cNvPr id="12" name="Shape 8"/>
              <p:cNvSpPr/>
              <p:nvPr/>
            </p:nvSpPr>
            <p:spPr>
              <a:xfrm>
                <a:off x="3172968" y="3255264"/>
                <a:ext cx="2898648" cy="292608"/>
              </a:xfrm>
              <a:prstGeom prst="rect">
                <a:avLst/>
              </a:prstGeom>
              <a:solidFill>
                <a:srgbClr val="E07B39"/>
              </a:solidFill>
              <a:ln w="12700">
                <a:solidFill>
                  <a:srgbClr val="E07B39"/>
                </a:solidFill>
                <a:prstDash val="solid"/>
              </a:ln>
            </p:spPr>
            <p:txBody>
              <a:bodyPr/>
              <a:lstStyle/>
              <a:p>
                <a:endParaRPr lang="en-IN"/>
              </a:p>
            </p:txBody>
          </p:sp>
          <p:sp>
            <p:nvSpPr>
              <p:cNvPr id="13" name="Text 9"/>
              <p:cNvSpPr/>
              <p:nvPr/>
            </p:nvSpPr>
            <p:spPr>
              <a:xfrm>
                <a:off x="3246120" y="3264408"/>
                <a:ext cx="2743200" cy="27432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2. The SLA Blindspot</a:t>
                </a:r>
                <a:endParaRPr lang="en-US" sz="1000" dirty="0"/>
              </a:p>
            </p:txBody>
          </p:sp>
          <p:sp>
            <p:nvSpPr>
              <p:cNvPr id="14" name="Text 10"/>
              <p:cNvSpPr/>
              <p:nvPr/>
            </p:nvSpPr>
            <p:spPr>
              <a:xfrm>
                <a:off x="3246120" y="3584448"/>
                <a:ext cx="2743200" cy="1097280"/>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Local municipalities have no legal deadlines to approve Fire/Parking NOCs — the process variation is statistically out of control.</a:t>
                </a:r>
                <a:endParaRPr lang="en-US" sz="1050" dirty="0"/>
              </a:p>
            </p:txBody>
          </p:sp>
        </p:grpSp>
        <p:grpSp>
          <p:nvGrpSpPr>
            <p:cNvPr id="23" name="Group 22">
              <a:extLst>
                <a:ext uri="{FF2B5EF4-FFF2-40B4-BE49-F238E27FC236}">
                  <a16:creationId xmlns:a16="http://schemas.microsoft.com/office/drawing/2014/main" id="{2D039859-20E9-5713-4984-96158FEDCF49}"/>
                </a:ext>
              </a:extLst>
            </p:cNvPr>
            <p:cNvGrpSpPr/>
            <p:nvPr/>
          </p:nvGrpSpPr>
          <p:grpSpPr>
            <a:xfrm>
              <a:off x="100584" y="3374136"/>
              <a:ext cx="2301240" cy="1344168"/>
              <a:chOff x="6163056" y="3255264"/>
              <a:chExt cx="2898648" cy="1481328"/>
            </a:xfrm>
          </p:grpSpPr>
          <p:sp>
            <p:nvSpPr>
              <p:cNvPr id="15" name="Shape 11"/>
              <p:cNvSpPr/>
              <p:nvPr/>
            </p:nvSpPr>
            <p:spPr>
              <a:xfrm>
                <a:off x="6163056" y="3255264"/>
                <a:ext cx="2898648" cy="1481328"/>
              </a:xfrm>
              <a:prstGeom prst="rect">
                <a:avLst/>
              </a:prstGeom>
              <a:solidFill>
                <a:srgbClr val="FFFFFF"/>
              </a:solidFill>
              <a:ln w="19050">
                <a:solidFill>
                  <a:srgbClr val="2563A8"/>
                </a:solidFill>
                <a:prstDash val="solid"/>
              </a:ln>
            </p:spPr>
            <p:txBody>
              <a:bodyPr/>
              <a:lstStyle/>
              <a:p>
                <a:endParaRPr lang="en-IN"/>
              </a:p>
            </p:txBody>
          </p:sp>
          <p:sp>
            <p:nvSpPr>
              <p:cNvPr id="16" name="Shape 12"/>
              <p:cNvSpPr/>
              <p:nvPr/>
            </p:nvSpPr>
            <p:spPr>
              <a:xfrm>
                <a:off x="6163056" y="3255264"/>
                <a:ext cx="2898648" cy="292608"/>
              </a:xfrm>
              <a:prstGeom prst="rect">
                <a:avLst/>
              </a:prstGeom>
              <a:solidFill>
                <a:srgbClr val="2563A8"/>
              </a:solidFill>
              <a:ln w="12700">
                <a:solidFill>
                  <a:srgbClr val="2563A8"/>
                </a:solidFill>
                <a:prstDash val="solid"/>
              </a:ln>
            </p:spPr>
            <p:txBody>
              <a:bodyPr/>
              <a:lstStyle/>
              <a:p>
                <a:endParaRPr lang="en-IN" dirty="0"/>
              </a:p>
            </p:txBody>
          </p:sp>
          <p:sp>
            <p:nvSpPr>
              <p:cNvPr id="17" name="Text 13"/>
              <p:cNvSpPr/>
              <p:nvPr/>
            </p:nvSpPr>
            <p:spPr>
              <a:xfrm>
                <a:off x="6236208" y="3264408"/>
                <a:ext cx="2743200" cy="27432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3. The Sequential Trap</a:t>
                </a:r>
                <a:endParaRPr lang="en-US" sz="1000" dirty="0"/>
              </a:p>
            </p:txBody>
          </p:sp>
          <p:sp>
            <p:nvSpPr>
              <p:cNvPr id="18" name="Text 14"/>
              <p:cNvSpPr/>
              <p:nvPr/>
            </p:nvSpPr>
            <p:spPr>
              <a:xfrm>
                <a:off x="6236208" y="3584448"/>
                <a:ext cx="2743200" cy="1097280"/>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Selecting a site based only on foot traffic — without verifying existing LT grid capacity upfront — structurally guarantees an HT upgrade delay.</a:t>
                </a:r>
                <a:endParaRPr lang="en-US" sz="1050" dirty="0"/>
              </a:p>
            </p:txBody>
          </p:sp>
        </p:grpSp>
      </p:grpSp>
      <p:sp>
        <p:nvSpPr>
          <p:cNvPr id="19" name="Shape 15"/>
          <p:cNvSpPr/>
          <p:nvPr/>
        </p:nvSpPr>
        <p:spPr>
          <a:xfrm>
            <a:off x="0" y="4828032"/>
            <a:ext cx="9144000" cy="315468"/>
          </a:xfrm>
          <a:prstGeom prst="rect">
            <a:avLst/>
          </a:prstGeom>
          <a:solidFill>
            <a:srgbClr val="1C2B4A"/>
          </a:solidFill>
          <a:ln w="12700">
            <a:solidFill>
              <a:srgbClr val="1C2B4A"/>
            </a:solidFill>
            <a:prstDash val="solid"/>
          </a:ln>
        </p:spPr>
        <p:txBody>
          <a:bodyPr/>
          <a:lstStyle/>
          <a:p>
            <a:endParaRPr lang="en-IN"/>
          </a:p>
        </p:txBody>
      </p:sp>
      <p:sp>
        <p:nvSpPr>
          <p:cNvPr id="20" name="Text 16"/>
          <p:cNvSpPr/>
          <p:nvPr/>
        </p:nvSpPr>
        <p:spPr>
          <a:xfrm>
            <a:off x="182880" y="4846320"/>
            <a:ext cx="8778240" cy="283464"/>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ROOT CAUSE CONCLUSION: Our Fishbone analysis verifies that massive delays in EV setup are systemic, not physical. We must fix the administrative sequence to fix the timeline.</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C2B4A"/>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2563A8"/>
          </a:solidFill>
          <a:ln w="12700">
            <a:solidFill>
              <a:srgbClr val="2563A8"/>
            </a:solidFill>
            <a:prstDash val="solid"/>
          </a:ln>
        </p:spPr>
        <p:txBody>
          <a:bodyPr/>
          <a:lstStyle/>
          <a:p>
            <a:endParaRPr lang="en-IN"/>
          </a:p>
        </p:txBody>
      </p:sp>
      <p:sp>
        <p:nvSpPr>
          <p:cNvPr id="3" name="Text 1"/>
          <p:cNvSpPr/>
          <p:nvPr/>
        </p:nvSpPr>
        <p:spPr>
          <a:xfrm>
            <a:off x="274320" y="109728"/>
            <a:ext cx="7132320"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ANALYSE CONCLUSION &amp; IMPROVE PHASE STRATEGY</a:t>
            </a:r>
            <a:endParaRPr lang="en-US" sz="1400" dirty="0"/>
          </a:p>
        </p:txBody>
      </p:sp>
      <p:sp>
        <p:nvSpPr>
          <p:cNvPr id="5" name="Text 2"/>
          <p:cNvSpPr/>
          <p:nvPr/>
        </p:nvSpPr>
        <p:spPr>
          <a:xfrm>
            <a:off x="274320" y="621792"/>
            <a:ext cx="8595360" cy="292608"/>
          </a:xfrm>
          <a:prstGeom prst="rect">
            <a:avLst/>
          </a:prstGeom>
          <a:noFill/>
          <a:ln/>
        </p:spPr>
        <p:txBody>
          <a:bodyPr wrap="square" lIns="0" tIns="0" rIns="0" bIns="0" rtlCol="0" anchor="ctr"/>
          <a:lstStyle/>
          <a:p>
            <a:pPr marL="0" indent="0">
              <a:buNone/>
            </a:pPr>
            <a:r>
              <a:rPr lang="en-US" sz="1200" i="1" dirty="0">
                <a:solidFill>
                  <a:srgbClr val="F0F4FF"/>
                </a:solidFill>
                <a:latin typeface="Calibri" pitchFamily="34" charset="0"/>
                <a:ea typeface="Calibri" pitchFamily="34" charset="-122"/>
                <a:cs typeface="Calibri" pitchFamily="34" charset="-120"/>
              </a:rPr>
              <a:t>Transforming the Setup Process: From Volatile to Capable</a:t>
            </a:r>
            <a:endParaRPr lang="en-US" sz="1200" dirty="0"/>
          </a:p>
        </p:txBody>
      </p:sp>
      <p:sp>
        <p:nvSpPr>
          <p:cNvPr id="6" name="Text 3"/>
          <p:cNvSpPr/>
          <p:nvPr/>
        </p:nvSpPr>
        <p:spPr>
          <a:xfrm>
            <a:off x="274320" y="896112"/>
            <a:ext cx="8595360" cy="457200"/>
          </a:xfrm>
          <a:prstGeom prst="rect">
            <a:avLst/>
          </a:prstGeom>
          <a:noFill/>
          <a:ln/>
        </p:spPr>
        <p:txBody>
          <a:bodyPr wrap="square" lIns="0" tIns="0" rIns="0" bIns="0" rtlCol="0" anchor="ctr"/>
          <a:lstStyle/>
          <a:p>
            <a:pPr marL="0" indent="0">
              <a:buNone/>
            </a:pPr>
            <a:r>
              <a:rPr lang="en-US" sz="1000" dirty="0">
                <a:solidFill>
                  <a:srgbClr val="A8C4E8"/>
                </a:solidFill>
                <a:latin typeface="Calibri" pitchFamily="34" charset="0"/>
                <a:ea typeface="Calibri" pitchFamily="34" charset="-122"/>
                <a:cs typeface="Calibri" pitchFamily="34" charset="-120"/>
              </a:rPr>
              <a:t>Our analysis phase mathematically verified that EV setup delays are an administrative defect, not an engineering constraint. By targeting our validated root causes (x₂ and x₄), our Improve phase will eliminate the 'Red Zone' of Non-Value-Added (NVA) waiting.</a:t>
            </a:r>
            <a:endParaRPr lang="en-US" sz="1000" dirty="0"/>
          </a:p>
        </p:txBody>
      </p:sp>
      <p:sp>
        <p:nvSpPr>
          <p:cNvPr id="7" name="Shape 4"/>
          <p:cNvSpPr/>
          <p:nvPr/>
        </p:nvSpPr>
        <p:spPr>
          <a:xfrm>
            <a:off x="228600" y="1417320"/>
            <a:ext cx="4160520" cy="292608"/>
          </a:xfrm>
          <a:prstGeom prst="rect">
            <a:avLst/>
          </a:prstGeom>
          <a:solidFill>
            <a:srgbClr val="0D9488"/>
          </a:solidFill>
          <a:ln w="12700">
            <a:solidFill>
              <a:srgbClr val="0D9488"/>
            </a:solidFill>
            <a:prstDash val="solid"/>
          </a:ln>
        </p:spPr>
        <p:txBody>
          <a:bodyPr/>
          <a:lstStyle/>
          <a:p>
            <a:endParaRPr lang="en-IN"/>
          </a:p>
        </p:txBody>
      </p:sp>
      <p:sp>
        <p:nvSpPr>
          <p:cNvPr id="8" name="Text 5"/>
          <p:cNvSpPr/>
          <p:nvPr/>
        </p:nvSpPr>
        <p:spPr>
          <a:xfrm>
            <a:off x="320040" y="1426464"/>
            <a:ext cx="39776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1. Strategic Innovations (Next Steps)</a:t>
            </a:r>
            <a:endParaRPr lang="en-US" sz="1100" dirty="0"/>
          </a:p>
        </p:txBody>
      </p:sp>
      <p:sp>
        <p:nvSpPr>
          <p:cNvPr id="9" name="Shape 6"/>
          <p:cNvSpPr/>
          <p:nvPr/>
        </p:nvSpPr>
        <p:spPr>
          <a:xfrm>
            <a:off x="228600" y="1755648"/>
            <a:ext cx="4160520" cy="1143000"/>
          </a:xfrm>
          <a:prstGeom prst="rect">
            <a:avLst/>
          </a:prstGeom>
          <a:solidFill>
            <a:srgbClr val="162E3A"/>
          </a:solidFill>
          <a:ln w="12700">
            <a:solidFill>
              <a:srgbClr val="0D9488"/>
            </a:solidFill>
            <a:prstDash val="solid"/>
          </a:ln>
        </p:spPr>
        <p:txBody>
          <a:bodyPr/>
          <a:lstStyle/>
          <a:p>
            <a:endParaRPr lang="en-IN"/>
          </a:p>
        </p:txBody>
      </p:sp>
      <p:sp>
        <p:nvSpPr>
          <p:cNvPr id="10" name="Text 7"/>
          <p:cNvSpPr/>
          <p:nvPr/>
        </p:nvSpPr>
        <p:spPr>
          <a:xfrm>
            <a:off x="347472" y="1792224"/>
            <a:ext cx="3950208" cy="411480"/>
          </a:xfrm>
          <a:prstGeom prst="rect">
            <a:avLst/>
          </a:prstGeom>
          <a:noFill/>
          <a:ln/>
        </p:spPr>
        <p:txBody>
          <a:bodyPr wrap="square" lIns="0" tIns="0" rIns="0" bIns="0" rtlCol="0" anchor="ctr"/>
          <a:lstStyle/>
          <a:p>
            <a:pPr marL="0" indent="0">
              <a:buNone/>
            </a:pPr>
            <a:r>
              <a:rPr lang="en-US" sz="1600" b="1" dirty="0">
                <a:solidFill>
                  <a:srgbClr val="0D9488"/>
                </a:solidFill>
                <a:latin typeface="Calibri" pitchFamily="34" charset="0"/>
                <a:ea typeface="Calibri" pitchFamily="34" charset="-122"/>
                <a:cs typeface="Calibri" pitchFamily="34" charset="-120"/>
              </a:rPr>
              <a:t>Poka-Yoke: "Real-Time DISCOM Heatmap"</a:t>
            </a:r>
            <a:endParaRPr lang="en-US" sz="1600" dirty="0"/>
          </a:p>
        </p:txBody>
      </p:sp>
      <p:sp>
        <p:nvSpPr>
          <p:cNvPr id="11" name="Text 8"/>
          <p:cNvSpPr/>
          <p:nvPr/>
        </p:nvSpPr>
        <p:spPr>
          <a:xfrm>
            <a:off x="347472" y="2048256"/>
            <a:ext cx="3886200" cy="804672"/>
          </a:xfrm>
          <a:prstGeom prst="rect">
            <a:avLst/>
          </a:prstGeom>
          <a:noFill/>
          <a:ln/>
        </p:spPr>
        <p:txBody>
          <a:bodyPr wrap="square" lIns="0" tIns="0" rIns="0" bIns="0" rtlCol="0" anchor="ctr"/>
          <a:lstStyle/>
          <a:p>
            <a:pPr marL="0" indent="0">
              <a:buNone/>
            </a:pPr>
            <a:r>
              <a:rPr lang="en-US" sz="1100" b="1" dirty="0">
                <a:solidFill>
                  <a:srgbClr val="F0F4FF"/>
                </a:solidFill>
                <a:latin typeface="Calibri" pitchFamily="34" charset="0"/>
                <a:ea typeface="Calibri" pitchFamily="34" charset="-122"/>
                <a:cs typeface="Calibri" pitchFamily="34" charset="-120"/>
              </a:rPr>
              <a:t>Targeting x₂: </a:t>
            </a:r>
            <a:r>
              <a:rPr lang="en-US" sz="1100" dirty="0">
                <a:solidFill>
                  <a:srgbClr val="F0F4FF"/>
                </a:solidFill>
                <a:latin typeface="Calibri" pitchFamily="34" charset="0"/>
                <a:ea typeface="Calibri" pitchFamily="34" charset="-122"/>
                <a:cs typeface="Calibri" pitchFamily="34" charset="-120"/>
              </a:rPr>
              <a:t>By giving operators visibility into existing LT grid capacity BEFORE they sign a lease, we completely prevent the 90-day HT upgrade penalty — eliminating the Sequential Trap.</a:t>
            </a:r>
            <a:endParaRPr lang="en-US" sz="1100" dirty="0"/>
          </a:p>
        </p:txBody>
      </p:sp>
      <p:sp>
        <p:nvSpPr>
          <p:cNvPr id="12" name="Shape 9"/>
          <p:cNvSpPr/>
          <p:nvPr/>
        </p:nvSpPr>
        <p:spPr>
          <a:xfrm>
            <a:off x="228600" y="2962656"/>
            <a:ext cx="4160520" cy="1143000"/>
          </a:xfrm>
          <a:prstGeom prst="rect">
            <a:avLst/>
          </a:prstGeom>
          <a:solidFill>
            <a:srgbClr val="162E3A"/>
          </a:solidFill>
          <a:ln w="12700">
            <a:solidFill>
              <a:srgbClr val="E07B39"/>
            </a:solidFill>
            <a:prstDash val="solid"/>
          </a:ln>
        </p:spPr>
        <p:txBody>
          <a:bodyPr/>
          <a:lstStyle/>
          <a:p>
            <a:endParaRPr lang="en-IN"/>
          </a:p>
        </p:txBody>
      </p:sp>
      <p:sp>
        <p:nvSpPr>
          <p:cNvPr id="13" name="Text 10"/>
          <p:cNvSpPr/>
          <p:nvPr/>
        </p:nvSpPr>
        <p:spPr>
          <a:xfrm>
            <a:off x="347472" y="2999232"/>
            <a:ext cx="3840480" cy="420624"/>
          </a:xfrm>
          <a:prstGeom prst="rect">
            <a:avLst/>
          </a:prstGeom>
          <a:noFill/>
          <a:ln/>
        </p:spPr>
        <p:txBody>
          <a:bodyPr wrap="square" lIns="0" tIns="0" rIns="0" bIns="0" rtlCol="0" anchor="ctr"/>
          <a:lstStyle/>
          <a:p>
            <a:pPr marL="0" indent="0">
              <a:buNone/>
            </a:pPr>
            <a:r>
              <a:rPr lang="en-US" sz="1400" b="1" dirty="0">
                <a:solidFill>
                  <a:srgbClr val="E07B39"/>
                </a:solidFill>
                <a:latin typeface="Calibri" pitchFamily="34" charset="0"/>
                <a:ea typeface="Calibri" pitchFamily="34" charset="-122"/>
                <a:cs typeface="Calibri" pitchFamily="34" charset="-120"/>
              </a:rPr>
              <a:t>Process Reengineering: "Single Window Clearance"</a:t>
            </a:r>
            <a:endParaRPr lang="en-US" sz="1400" dirty="0"/>
          </a:p>
        </p:txBody>
      </p:sp>
      <p:sp>
        <p:nvSpPr>
          <p:cNvPr id="14" name="Text 11"/>
          <p:cNvSpPr/>
          <p:nvPr/>
        </p:nvSpPr>
        <p:spPr>
          <a:xfrm>
            <a:off x="347472" y="3255264"/>
            <a:ext cx="3886200" cy="804672"/>
          </a:xfrm>
          <a:prstGeom prst="rect">
            <a:avLst/>
          </a:prstGeom>
          <a:noFill/>
          <a:ln/>
        </p:spPr>
        <p:txBody>
          <a:bodyPr wrap="square" lIns="0" tIns="0" rIns="0" bIns="0" rtlCol="0" anchor="ctr"/>
          <a:lstStyle/>
          <a:p>
            <a:pPr marL="0" indent="0">
              <a:buNone/>
            </a:pPr>
            <a:r>
              <a:rPr lang="en-US" sz="1100" b="1" dirty="0">
                <a:solidFill>
                  <a:srgbClr val="F0F4FF"/>
                </a:solidFill>
                <a:latin typeface="Calibri" pitchFamily="34" charset="0"/>
                <a:ea typeface="Calibri" pitchFamily="34" charset="-122"/>
                <a:cs typeface="Calibri" pitchFamily="34" charset="-120"/>
              </a:rPr>
              <a:t>Targeting x₄: </a:t>
            </a:r>
            <a:r>
              <a:rPr lang="en-US" sz="1100" dirty="0">
                <a:solidFill>
                  <a:srgbClr val="F0F4FF"/>
                </a:solidFill>
                <a:latin typeface="Calibri" pitchFamily="34" charset="0"/>
                <a:ea typeface="Calibri" pitchFamily="34" charset="-122"/>
                <a:cs typeface="Calibri" pitchFamily="34" charset="-120"/>
              </a:rPr>
              <a:t>Consolidating the 5 municipal survey handoffs into a parallel, single-window approval system to eliminate overprocessing and enforce SLA deadlines.</a:t>
            </a:r>
            <a:endParaRPr lang="en-US" sz="1100" dirty="0"/>
          </a:p>
        </p:txBody>
      </p:sp>
      <p:sp>
        <p:nvSpPr>
          <p:cNvPr id="15" name="Shape 12"/>
          <p:cNvSpPr/>
          <p:nvPr/>
        </p:nvSpPr>
        <p:spPr>
          <a:xfrm>
            <a:off x="4663440" y="1417320"/>
            <a:ext cx="4251960" cy="292608"/>
          </a:xfrm>
          <a:prstGeom prst="rect">
            <a:avLst/>
          </a:prstGeom>
          <a:solidFill>
            <a:srgbClr val="2563A8"/>
          </a:solidFill>
          <a:ln w="12700">
            <a:solidFill>
              <a:srgbClr val="2563A8"/>
            </a:solidFill>
            <a:prstDash val="solid"/>
          </a:ln>
        </p:spPr>
        <p:txBody>
          <a:bodyPr/>
          <a:lstStyle/>
          <a:p>
            <a:endParaRPr lang="en-IN"/>
          </a:p>
        </p:txBody>
      </p:sp>
      <p:sp>
        <p:nvSpPr>
          <p:cNvPr id="16" name="Text 13"/>
          <p:cNvSpPr/>
          <p:nvPr/>
        </p:nvSpPr>
        <p:spPr>
          <a:xfrm>
            <a:off x="4754880" y="1426464"/>
            <a:ext cx="406908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2. Projected Process Capability</a:t>
            </a:r>
            <a:endParaRPr lang="en-US" sz="1100" dirty="0"/>
          </a:p>
        </p:txBody>
      </p:sp>
      <p:sp>
        <p:nvSpPr>
          <p:cNvPr id="17" name="Shape 14"/>
          <p:cNvSpPr/>
          <p:nvPr/>
        </p:nvSpPr>
        <p:spPr>
          <a:xfrm>
            <a:off x="4663440" y="1755648"/>
            <a:ext cx="4251960" cy="713232"/>
          </a:xfrm>
          <a:prstGeom prst="rect">
            <a:avLst/>
          </a:prstGeom>
          <a:solidFill>
            <a:srgbClr val="C0392B">
              <a:alpha val="30000"/>
            </a:srgbClr>
          </a:solidFill>
          <a:ln w="19050">
            <a:solidFill>
              <a:srgbClr val="C0392B"/>
            </a:solidFill>
            <a:prstDash val="solid"/>
          </a:ln>
        </p:spPr>
        <p:txBody>
          <a:bodyPr/>
          <a:lstStyle/>
          <a:p>
            <a:endParaRPr lang="en-IN"/>
          </a:p>
        </p:txBody>
      </p:sp>
      <p:sp>
        <p:nvSpPr>
          <p:cNvPr id="18" name="Text 15"/>
          <p:cNvSpPr/>
          <p:nvPr/>
        </p:nvSpPr>
        <p:spPr>
          <a:xfrm>
            <a:off x="4773168" y="1783080"/>
            <a:ext cx="2389632" cy="822960"/>
          </a:xfrm>
          <a:prstGeom prst="rect">
            <a:avLst/>
          </a:prstGeom>
          <a:noFill/>
          <a:ln/>
        </p:spPr>
        <p:txBody>
          <a:bodyPr wrap="square" lIns="0" tIns="0" rIns="0" bIns="0" rtlCol="0" anchor="ctr"/>
          <a:lstStyle/>
          <a:p>
            <a:pPr algn="ctr"/>
            <a:r>
              <a:rPr lang="en-US" sz="1400" b="1" dirty="0">
                <a:solidFill>
                  <a:srgbClr val="C0392B"/>
                </a:solidFill>
                <a:latin typeface="Calibri" pitchFamily="34" charset="0"/>
                <a:ea typeface="Calibri" pitchFamily="34" charset="-122"/>
                <a:cs typeface="Calibri" pitchFamily="34" charset="-120"/>
              </a:rPr>
              <a:t>CURRENT STATE: 105+ Days</a:t>
            </a:r>
            <a:endParaRPr lang="en-US" sz="1400" dirty="0"/>
          </a:p>
          <a:p>
            <a:pPr marL="0" indent="0">
              <a:buNone/>
            </a:pPr>
            <a:endParaRPr lang="en-US" sz="1400" dirty="0"/>
          </a:p>
        </p:txBody>
      </p:sp>
      <p:sp>
        <p:nvSpPr>
          <p:cNvPr id="19" name="Text 16"/>
          <p:cNvSpPr/>
          <p:nvPr/>
        </p:nvSpPr>
        <p:spPr>
          <a:xfrm>
            <a:off x="5711952" y="1755648"/>
            <a:ext cx="1615438" cy="713232"/>
          </a:xfrm>
          <a:prstGeom prst="rect">
            <a:avLst/>
          </a:prstGeom>
          <a:noFill/>
          <a:ln/>
        </p:spPr>
        <p:txBody>
          <a:bodyPr wrap="square" lIns="0" tIns="0" rIns="0" bIns="0" rtlCol="0" anchor="ctr"/>
          <a:lstStyle/>
          <a:p>
            <a:pPr marL="0" indent="0" algn="ctr">
              <a:buNone/>
            </a:pPr>
            <a:endParaRPr lang="en-US" sz="1400" dirty="0"/>
          </a:p>
        </p:txBody>
      </p:sp>
      <p:sp>
        <p:nvSpPr>
          <p:cNvPr id="20" name="Text 17"/>
          <p:cNvSpPr/>
          <p:nvPr/>
        </p:nvSpPr>
        <p:spPr>
          <a:xfrm>
            <a:off x="7162800" y="1764792"/>
            <a:ext cx="1615440" cy="658368"/>
          </a:xfrm>
          <a:prstGeom prst="rect">
            <a:avLst/>
          </a:prstGeom>
          <a:noFill/>
          <a:ln/>
        </p:spPr>
        <p:txBody>
          <a:bodyPr wrap="square" lIns="0" tIns="0" rIns="0" bIns="0" rtlCol="0" anchor="ctr"/>
          <a:lstStyle/>
          <a:p>
            <a:pPr marL="0" indent="0">
              <a:buNone/>
            </a:pPr>
            <a:r>
              <a:rPr lang="en-US" sz="900" dirty="0">
                <a:solidFill>
                  <a:srgbClr val="F0F4FF"/>
                </a:solidFill>
                <a:latin typeface="Calibri" pitchFamily="34" charset="0"/>
                <a:ea typeface="Calibri" pitchFamily="34" charset="-122"/>
                <a:cs typeface="Calibri" pitchFamily="34" charset="-120"/>
              </a:rPr>
              <a:t>Dominated by highly volatile administrative waiting</a:t>
            </a:r>
            <a:endParaRPr lang="en-US" sz="900" dirty="0"/>
          </a:p>
        </p:txBody>
      </p:sp>
      <p:sp>
        <p:nvSpPr>
          <p:cNvPr id="21" name="Shape 18"/>
          <p:cNvSpPr/>
          <p:nvPr/>
        </p:nvSpPr>
        <p:spPr>
          <a:xfrm>
            <a:off x="6784848" y="2505456"/>
            <a:ext cx="0" cy="256032"/>
          </a:xfrm>
          <a:prstGeom prst="line">
            <a:avLst/>
          </a:prstGeom>
          <a:noFill/>
          <a:ln w="12700">
            <a:solidFill>
              <a:srgbClr val="FFFFFF"/>
            </a:solidFill>
            <a:prstDash val="solid"/>
          </a:ln>
        </p:spPr>
        <p:txBody>
          <a:bodyPr/>
          <a:lstStyle/>
          <a:p>
            <a:endParaRPr lang="en-IN"/>
          </a:p>
        </p:txBody>
      </p:sp>
      <p:sp>
        <p:nvSpPr>
          <p:cNvPr id="22" name="Shape 19"/>
          <p:cNvSpPr/>
          <p:nvPr/>
        </p:nvSpPr>
        <p:spPr>
          <a:xfrm>
            <a:off x="4663440" y="2788920"/>
            <a:ext cx="4251960" cy="713232"/>
          </a:xfrm>
          <a:prstGeom prst="rect">
            <a:avLst/>
          </a:prstGeom>
          <a:solidFill>
            <a:srgbClr val="16A085">
              <a:alpha val="30000"/>
            </a:srgbClr>
          </a:solidFill>
          <a:ln w="19050">
            <a:solidFill>
              <a:srgbClr val="16A085"/>
            </a:solidFill>
            <a:prstDash val="solid"/>
          </a:ln>
        </p:spPr>
        <p:txBody>
          <a:bodyPr/>
          <a:lstStyle/>
          <a:p>
            <a:endParaRPr lang="en-IN"/>
          </a:p>
        </p:txBody>
      </p:sp>
      <p:sp>
        <p:nvSpPr>
          <p:cNvPr id="23" name="Text 20"/>
          <p:cNvSpPr/>
          <p:nvPr/>
        </p:nvSpPr>
        <p:spPr>
          <a:xfrm>
            <a:off x="4995672" y="2816352"/>
            <a:ext cx="2029968" cy="685800"/>
          </a:xfrm>
          <a:prstGeom prst="rect">
            <a:avLst/>
          </a:prstGeom>
          <a:noFill/>
          <a:ln/>
        </p:spPr>
        <p:txBody>
          <a:bodyPr wrap="square" lIns="0" tIns="0" rIns="0" bIns="0" rtlCol="0" anchor="ctr"/>
          <a:lstStyle/>
          <a:p>
            <a:pPr marL="0" indent="0">
              <a:buNone/>
            </a:pPr>
            <a:r>
              <a:rPr lang="en-US" sz="1400" b="1" dirty="0">
                <a:solidFill>
                  <a:srgbClr val="16A085"/>
                </a:solidFill>
                <a:latin typeface="Calibri" pitchFamily="34" charset="0"/>
                <a:ea typeface="Calibri" pitchFamily="34" charset="-122"/>
                <a:cs typeface="Calibri" pitchFamily="34" charset="-120"/>
              </a:rPr>
              <a:t>TARGET STATE: 30-45 Days</a:t>
            </a:r>
            <a:endParaRPr lang="en-US" sz="1400" dirty="0"/>
          </a:p>
        </p:txBody>
      </p:sp>
      <p:sp>
        <p:nvSpPr>
          <p:cNvPr id="24" name="Text 21"/>
          <p:cNvSpPr/>
          <p:nvPr/>
        </p:nvSpPr>
        <p:spPr>
          <a:xfrm>
            <a:off x="6355080" y="2788920"/>
            <a:ext cx="2514600" cy="457200"/>
          </a:xfrm>
          <a:prstGeom prst="rect">
            <a:avLst/>
          </a:prstGeom>
          <a:noFill/>
          <a:ln/>
        </p:spPr>
        <p:txBody>
          <a:bodyPr wrap="square" lIns="0" tIns="0" rIns="0" bIns="0" rtlCol="0" anchor="ctr"/>
          <a:lstStyle/>
          <a:p>
            <a:pPr marL="0" indent="0" algn="ctr">
              <a:buNone/>
            </a:pPr>
            <a:endParaRPr lang="en-US" sz="2600" dirty="0"/>
          </a:p>
        </p:txBody>
      </p:sp>
      <p:sp>
        <p:nvSpPr>
          <p:cNvPr id="25" name="Text 22"/>
          <p:cNvSpPr/>
          <p:nvPr/>
        </p:nvSpPr>
        <p:spPr>
          <a:xfrm>
            <a:off x="7162800" y="2852928"/>
            <a:ext cx="1615440" cy="603504"/>
          </a:xfrm>
          <a:prstGeom prst="rect">
            <a:avLst/>
          </a:prstGeom>
          <a:noFill/>
          <a:ln/>
        </p:spPr>
        <p:txBody>
          <a:bodyPr wrap="square" lIns="0" tIns="0" rIns="0" bIns="0" rtlCol="0" anchor="ctr"/>
          <a:lstStyle/>
          <a:p>
            <a:pPr marL="0" indent="0">
              <a:buNone/>
            </a:pPr>
            <a:r>
              <a:rPr lang="en-US" sz="900" dirty="0">
                <a:solidFill>
                  <a:srgbClr val="F0F4FF"/>
                </a:solidFill>
                <a:latin typeface="Calibri" pitchFamily="34" charset="0"/>
                <a:ea typeface="Calibri" pitchFamily="34" charset="-122"/>
                <a:cs typeface="Calibri" pitchFamily="34" charset="-120"/>
              </a:rPr>
              <a:t>Stable, predictable, value-added physical execution</a:t>
            </a:r>
            <a:endParaRPr lang="en-US" sz="900" dirty="0"/>
          </a:p>
        </p:txBody>
      </p:sp>
      <p:sp>
        <p:nvSpPr>
          <p:cNvPr id="26" name="Shape 23"/>
          <p:cNvSpPr/>
          <p:nvPr/>
        </p:nvSpPr>
        <p:spPr>
          <a:xfrm>
            <a:off x="4663440" y="3566160"/>
            <a:ext cx="4251960" cy="566928"/>
          </a:xfrm>
          <a:prstGeom prst="rect">
            <a:avLst/>
          </a:prstGeom>
          <a:solidFill>
            <a:srgbClr val="0D2137"/>
          </a:solidFill>
          <a:ln w="12700">
            <a:solidFill>
              <a:srgbClr val="0D9488"/>
            </a:solidFill>
            <a:prstDash val="solid"/>
          </a:ln>
        </p:spPr>
        <p:txBody>
          <a:bodyPr/>
          <a:lstStyle/>
          <a:p>
            <a:endParaRPr lang="en-IN"/>
          </a:p>
        </p:txBody>
      </p:sp>
      <p:sp>
        <p:nvSpPr>
          <p:cNvPr id="27" name="Text 24"/>
          <p:cNvSpPr/>
          <p:nvPr/>
        </p:nvSpPr>
        <p:spPr>
          <a:xfrm>
            <a:off x="4754880" y="3593592"/>
            <a:ext cx="4069080" cy="521208"/>
          </a:xfrm>
          <a:prstGeom prst="rect">
            <a:avLst/>
          </a:prstGeom>
          <a:noFill/>
          <a:ln/>
        </p:spPr>
        <p:txBody>
          <a:bodyPr wrap="square" lIns="0" tIns="0" rIns="0" bIns="0" rtlCol="0" anchor="ctr"/>
          <a:lstStyle/>
          <a:p>
            <a:pPr marL="0" indent="0">
              <a:buNone/>
            </a:pPr>
            <a:r>
              <a:rPr lang="en-US" sz="950" i="1" dirty="0">
                <a:solidFill>
                  <a:srgbClr val="0D9488"/>
                </a:solidFill>
                <a:latin typeface="Calibri" pitchFamily="34" charset="0"/>
                <a:ea typeface="Calibri" pitchFamily="34" charset="-122"/>
                <a:cs typeface="Calibri" pitchFamily="34" charset="-120"/>
              </a:rPr>
              <a:t>"Mathematical elimination of the Red NVA Zone reduces total cycle time to the Green VA baseline."</a:t>
            </a:r>
            <a:endParaRPr lang="en-US" sz="950" dirty="0"/>
          </a:p>
        </p:txBody>
      </p:sp>
      <p:sp>
        <p:nvSpPr>
          <p:cNvPr id="28" name="Shape 25"/>
          <p:cNvSpPr/>
          <p:nvPr/>
        </p:nvSpPr>
        <p:spPr>
          <a:xfrm>
            <a:off x="4572000" y="1417320"/>
            <a:ext cx="0" cy="2788920"/>
          </a:xfrm>
          <a:prstGeom prst="line">
            <a:avLst/>
          </a:prstGeom>
          <a:noFill/>
          <a:ln w="12700">
            <a:solidFill>
              <a:srgbClr val="334155"/>
            </a:solidFill>
            <a:prstDash val="solid"/>
          </a:ln>
        </p:spPr>
        <p:txBody>
          <a:bodyPr/>
          <a:lstStyle/>
          <a:p>
            <a:endParaRPr lang="en-IN"/>
          </a:p>
        </p:txBody>
      </p:sp>
      <p:sp>
        <p:nvSpPr>
          <p:cNvPr id="29" name="Shape 26"/>
          <p:cNvSpPr/>
          <p:nvPr/>
        </p:nvSpPr>
        <p:spPr>
          <a:xfrm>
            <a:off x="0" y="4315968"/>
            <a:ext cx="9144000" cy="571500"/>
          </a:xfrm>
          <a:prstGeom prst="rect">
            <a:avLst/>
          </a:prstGeom>
          <a:solidFill>
            <a:srgbClr val="0D9488"/>
          </a:solidFill>
          <a:ln w="12700">
            <a:solidFill>
              <a:srgbClr val="0D9488"/>
            </a:solidFill>
            <a:prstDash val="solid"/>
          </a:ln>
        </p:spPr>
        <p:txBody>
          <a:bodyPr/>
          <a:lstStyle/>
          <a:p>
            <a:endParaRPr lang="en-IN"/>
          </a:p>
        </p:txBody>
      </p:sp>
      <p:sp>
        <p:nvSpPr>
          <p:cNvPr id="30" name="Text 27"/>
          <p:cNvSpPr/>
          <p:nvPr/>
        </p:nvSpPr>
        <p:spPr>
          <a:xfrm>
            <a:off x="182880" y="4334256"/>
            <a:ext cx="8778240" cy="54864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FINAL ANALYSE CONCLUSION: </a:t>
            </a:r>
            <a:r>
              <a:rPr lang="en-US" sz="1000" dirty="0">
                <a:solidFill>
                  <a:srgbClr val="FFFFFF"/>
                </a:solidFill>
                <a:latin typeface="Calibri" pitchFamily="34" charset="0"/>
                <a:ea typeface="Calibri" pitchFamily="34" charset="-122"/>
                <a:cs typeface="Calibri" pitchFamily="34" charset="-120"/>
              </a:rPr>
              <a:t>By shifting focus from physical hardware to systemic grid and municipal policies, we can transform the EV charging deployment process from a 4-month volatile struggle into a standardised 30-day operation.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64592" cy="749808"/>
          </a:xfrm>
          <a:prstGeom prst="rect">
            <a:avLst/>
          </a:prstGeom>
          <a:solidFill>
            <a:srgbClr val="C8952A"/>
          </a:solidFill>
          <a:ln w="12700">
            <a:solidFill>
              <a:srgbClr val="C8952A"/>
            </a:solidFill>
            <a:prstDash val="solid"/>
          </a:ln>
        </p:spPr>
      </p:sp>
      <p:sp>
        <p:nvSpPr>
          <p:cNvPr id="3" name="Text 1"/>
          <p:cNvSpPr/>
          <p:nvPr/>
        </p:nvSpPr>
        <p:spPr>
          <a:xfrm>
            <a:off x="274320" y="45720"/>
            <a:ext cx="5486400" cy="384048"/>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INDUSTRY VALIDATION</a:t>
            </a:r>
            <a:endParaRPr lang="en-US" sz="1900" dirty="0"/>
          </a:p>
        </p:txBody>
      </p:sp>
      <p:sp>
        <p:nvSpPr>
          <p:cNvPr id="4" name="Text 2"/>
          <p:cNvSpPr/>
          <p:nvPr/>
        </p:nvSpPr>
        <p:spPr>
          <a:xfrm>
            <a:off x="274320" y="429768"/>
            <a:ext cx="8595360" cy="256032"/>
          </a:xfrm>
          <a:prstGeom prst="rect">
            <a:avLst/>
          </a:prstGeom>
          <a:noFill/>
          <a:ln/>
        </p:spPr>
        <p:txBody>
          <a:bodyPr wrap="square" lIns="0" tIns="0" rIns="0" bIns="0" rtlCol="0" anchor="ctr"/>
          <a:lstStyle/>
          <a:p>
            <a:pPr marL="0" indent="0">
              <a:buNone/>
            </a:pPr>
            <a:r>
              <a:rPr lang="en-US" sz="2000" dirty="0">
                <a:solidFill>
                  <a:schemeClr val="accent1">
                    <a:lumMod val="50000"/>
                  </a:schemeClr>
                </a:solidFill>
                <a:latin typeface="Calibri" pitchFamily="34" charset="0"/>
                <a:ea typeface="Calibri" pitchFamily="34" charset="-122"/>
                <a:cs typeface="Calibri" pitchFamily="34" charset="-120"/>
              </a:rPr>
              <a:t>Founder Interaction — Gemba Validation (Mobilane)</a:t>
            </a:r>
            <a:endParaRPr lang="en-US" sz="2000" dirty="0">
              <a:solidFill>
                <a:schemeClr val="accent1">
                  <a:lumMod val="50000"/>
                </a:schemeClr>
              </a:solidFill>
            </a:endParaRPr>
          </a:p>
        </p:txBody>
      </p:sp>
      <p:sp>
        <p:nvSpPr>
          <p:cNvPr id="5" name="Text 3"/>
          <p:cNvSpPr/>
          <p:nvPr/>
        </p:nvSpPr>
        <p:spPr>
          <a:xfrm>
            <a:off x="274320" y="4892040"/>
            <a:ext cx="8595360" cy="164592"/>
          </a:xfrm>
          <a:prstGeom prst="rect">
            <a:avLst/>
          </a:prstGeom>
          <a:noFill/>
          <a:ln/>
        </p:spPr>
        <p:txBody>
          <a:bodyPr wrap="square" lIns="0" tIns="0" rIns="0" bIns="0" rtlCol="0" anchor="ctr"/>
          <a:lstStyle/>
          <a:p>
            <a:pPr marL="0" indent="0">
              <a:buNone/>
            </a:pPr>
            <a:r>
              <a:rPr lang="en-US" sz="750" dirty="0">
                <a:solidFill>
                  <a:srgbClr val="6A8099"/>
                </a:solidFill>
                <a:latin typeface="Calibri" pitchFamily="34" charset="0"/>
                <a:ea typeface="Calibri" pitchFamily="34" charset="-122"/>
                <a:cs typeface="Calibri" pitchFamily="34" charset="-120"/>
              </a:rPr>
              <a:t>DMAIC  →  Define  →  Measure  →  Analyze  →  Improve  →  Control</a:t>
            </a:r>
            <a:endParaRPr lang="en-US" sz="750" dirty="0"/>
          </a:p>
        </p:txBody>
      </p:sp>
      <p:sp>
        <p:nvSpPr>
          <p:cNvPr id="6" name="Text 4"/>
          <p:cNvSpPr/>
          <p:nvPr/>
        </p:nvSpPr>
        <p:spPr>
          <a:xfrm>
            <a:off x="0" y="4992624"/>
            <a:ext cx="9144000" cy="150876"/>
          </a:xfrm>
          <a:prstGeom prst="rect">
            <a:avLst/>
          </a:prstGeom>
          <a:noFill/>
          <a:ln/>
        </p:spPr>
        <p:txBody>
          <a:bodyPr wrap="square" lIns="0" tIns="0" rIns="0" bIns="0" rtlCol="0" anchor="ctr"/>
          <a:lstStyle/>
          <a:p>
            <a:pPr marL="0" indent="0" algn="ctr">
              <a:buNone/>
            </a:pPr>
            <a:r>
              <a:rPr lang="en-US" sz="720" dirty="0">
                <a:solidFill>
                  <a:srgbClr val="8AAABB"/>
                </a:solidFill>
                <a:latin typeface="Calibri" pitchFamily="34" charset="0"/>
                <a:ea typeface="Calibri" pitchFamily="34" charset="-122"/>
                <a:cs typeface="Calibri" pitchFamily="34" charset="-120"/>
              </a:rPr>
              <a:t>Analyze Phase  |  Industry Validation — Mobilane Founder Discussion</a:t>
            </a:r>
            <a:endParaRPr lang="en-US" sz="720" dirty="0"/>
          </a:p>
        </p:txBody>
      </p:sp>
      <p:sp>
        <p:nvSpPr>
          <p:cNvPr id="7" name="Text 5"/>
          <p:cNvSpPr/>
          <p:nvPr/>
        </p:nvSpPr>
        <p:spPr>
          <a:xfrm>
            <a:off x="164592" y="822960"/>
            <a:ext cx="2606040" cy="182880"/>
          </a:xfrm>
          <a:prstGeom prst="rect">
            <a:avLst/>
          </a:prstGeom>
          <a:noFill/>
          <a:ln/>
        </p:spPr>
        <p:txBody>
          <a:bodyPr wrap="square" lIns="0" tIns="0" rIns="0" bIns="0" rtlCol="0" anchor="ctr"/>
          <a:lstStyle/>
          <a:p>
            <a:pPr marL="0" indent="0" algn="ctr">
              <a:buNone/>
            </a:pPr>
            <a:r>
              <a:rPr lang="en-US" sz="750" b="1" dirty="0">
                <a:solidFill>
                  <a:srgbClr val="C8952A"/>
                </a:solidFill>
                <a:latin typeface="Calibri" pitchFamily="34" charset="0"/>
                <a:ea typeface="Calibri" pitchFamily="34" charset="-122"/>
                <a:cs typeface="Calibri" pitchFamily="34" charset="-120"/>
              </a:rPr>
              <a:t>Google Meet Session</a:t>
            </a:r>
            <a:endParaRPr lang="en-US" sz="750" dirty="0"/>
          </a:p>
        </p:txBody>
      </p:sp>
      <p:sp>
        <p:nvSpPr>
          <p:cNvPr id="8" name="Shape 6"/>
          <p:cNvSpPr/>
          <p:nvPr/>
        </p:nvSpPr>
        <p:spPr>
          <a:xfrm>
            <a:off x="164592" y="1024128"/>
            <a:ext cx="2606040" cy="1572768"/>
          </a:xfrm>
          <a:prstGeom prst="rect">
            <a:avLst/>
          </a:prstGeom>
          <a:solidFill>
            <a:srgbClr val="000000"/>
          </a:solidFill>
          <a:ln w="15240">
            <a:solidFill>
              <a:srgbClr val="2E7D9C"/>
            </a:solidFill>
            <a:prstDash val="solid"/>
          </a:ln>
        </p:spPr>
      </p:sp>
      <p:pic>
        <p:nvPicPr>
          <p:cNvPr id="9" name="Image 0" descr="/home/claude/screenshot1.png"/>
          <p:cNvPicPr>
            <a:picLocks noChangeAspect="1"/>
          </p:cNvPicPr>
          <p:nvPr/>
        </p:nvPicPr>
        <p:blipFill>
          <a:blip r:embed="rId3"/>
          <a:srcRect/>
          <a:stretch/>
        </p:blipFill>
        <p:spPr>
          <a:xfrm>
            <a:off x="201168" y="1060704"/>
            <a:ext cx="2532888" cy="1499616"/>
          </a:xfrm>
          <a:prstGeom prst="rect">
            <a:avLst/>
          </a:prstGeom>
        </p:spPr>
      </p:pic>
      <p:sp>
        <p:nvSpPr>
          <p:cNvPr id="10" name="Text 7"/>
          <p:cNvSpPr/>
          <p:nvPr/>
        </p:nvSpPr>
        <p:spPr>
          <a:xfrm>
            <a:off x="164592" y="2624328"/>
            <a:ext cx="2606040" cy="201168"/>
          </a:xfrm>
          <a:prstGeom prst="rect">
            <a:avLst/>
          </a:prstGeom>
          <a:noFill/>
          <a:ln/>
        </p:spPr>
        <p:txBody>
          <a:bodyPr wrap="square" lIns="0" tIns="0" rIns="0" bIns="0" rtlCol="0" anchor="ctr"/>
          <a:lstStyle/>
          <a:p>
            <a:pPr marL="0" indent="0" algn="ctr">
              <a:buNone/>
            </a:pPr>
            <a:r>
              <a:rPr lang="en-US" sz="700" i="1" dirty="0">
                <a:solidFill>
                  <a:srgbClr val="8AAABB"/>
                </a:solidFill>
                <a:latin typeface="Calibri" pitchFamily="34" charset="0"/>
                <a:ea typeface="Calibri" pitchFamily="34" charset="-122"/>
                <a:cs typeface="Calibri" pitchFamily="34" charset="-120"/>
              </a:rPr>
              <a:t>Team + Expert — Live Discussion</a:t>
            </a:r>
            <a:endParaRPr lang="en-US" sz="700" dirty="0"/>
          </a:p>
        </p:txBody>
      </p:sp>
      <p:sp>
        <p:nvSpPr>
          <p:cNvPr id="11" name="Text 8"/>
          <p:cNvSpPr/>
          <p:nvPr/>
        </p:nvSpPr>
        <p:spPr>
          <a:xfrm>
            <a:off x="164592" y="2871216"/>
            <a:ext cx="2606040" cy="182880"/>
          </a:xfrm>
          <a:prstGeom prst="rect">
            <a:avLst/>
          </a:prstGeom>
          <a:noFill/>
          <a:ln/>
        </p:spPr>
        <p:txBody>
          <a:bodyPr wrap="square" lIns="0" tIns="0" rIns="0" bIns="0" rtlCol="0" anchor="ctr"/>
          <a:lstStyle/>
          <a:p>
            <a:pPr marL="0" indent="0" algn="ctr">
              <a:buNone/>
            </a:pPr>
            <a:r>
              <a:rPr lang="en-US" sz="750" b="1" dirty="0">
                <a:solidFill>
                  <a:srgbClr val="C8952A"/>
                </a:solidFill>
                <a:latin typeface="Calibri" pitchFamily="34" charset="0"/>
                <a:ea typeface="Calibri" pitchFamily="34" charset="-122"/>
                <a:cs typeface="Calibri" pitchFamily="34" charset="-120"/>
              </a:rPr>
              <a:t>Live Screen Share — DISCOM Data</a:t>
            </a:r>
            <a:endParaRPr lang="en-US" sz="750" dirty="0"/>
          </a:p>
        </p:txBody>
      </p:sp>
      <p:sp>
        <p:nvSpPr>
          <p:cNvPr id="12" name="Shape 9"/>
          <p:cNvSpPr/>
          <p:nvPr/>
        </p:nvSpPr>
        <p:spPr>
          <a:xfrm>
            <a:off x="164592" y="3072384"/>
            <a:ext cx="2606040" cy="1508760"/>
          </a:xfrm>
          <a:prstGeom prst="rect">
            <a:avLst/>
          </a:prstGeom>
          <a:solidFill>
            <a:srgbClr val="000000"/>
          </a:solidFill>
          <a:ln w="15240">
            <a:solidFill>
              <a:srgbClr val="C0622A"/>
            </a:solidFill>
            <a:prstDash val="solid"/>
          </a:ln>
        </p:spPr>
      </p:sp>
      <p:pic>
        <p:nvPicPr>
          <p:cNvPr id="13" name="Image 1" descr="/home/claude/screenshot2.png"/>
          <p:cNvPicPr>
            <a:picLocks noChangeAspect="1"/>
          </p:cNvPicPr>
          <p:nvPr/>
        </p:nvPicPr>
        <p:blipFill>
          <a:blip r:embed="rId4"/>
          <a:srcRect/>
          <a:stretch/>
        </p:blipFill>
        <p:spPr>
          <a:xfrm>
            <a:off x="201168" y="3108960"/>
            <a:ext cx="2532888" cy="1435608"/>
          </a:xfrm>
          <a:prstGeom prst="rect">
            <a:avLst/>
          </a:prstGeom>
        </p:spPr>
      </p:pic>
      <p:sp>
        <p:nvSpPr>
          <p:cNvPr id="14" name="Text 10"/>
          <p:cNvSpPr/>
          <p:nvPr/>
        </p:nvSpPr>
        <p:spPr>
          <a:xfrm>
            <a:off x="164592" y="4599432"/>
            <a:ext cx="2606040" cy="182880"/>
          </a:xfrm>
          <a:prstGeom prst="rect">
            <a:avLst/>
          </a:prstGeom>
          <a:noFill/>
          <a:ln/>
        </p:spPr>
        <p:txBody>
          <a:bodyPr wrap="square" lIns="0" tIns="0" rIns="0" bIns="0" rtlCol="0" anchor="ctr"/>
          <a:lstStyle/>
          <a:p>
            <a:pPr marL="0" indent="0" algn="ctr">
              <a:buNone/>
            </a:pPr>
            <a:r>
              <a:rPr lang="en-US" sz="700" i="1" dirty="0">
                <a:solidFill>
                  <a:srgbClr val="8AAABB"/>
                </a:solidFill>
                <a:latin typeface="Calibri" pitchFamily="34" charset="0"/>
                <a:ea typeface="Calibri" pitchFamily="34" charset="-122"/>
                <a:cs typeface="Calibri" pitchFamily="34" charset="-120"/>
              </a:rPr>
              <a:t>Indian DISCOM Details — Shared &amp; Discussed</a:t>
            </a:r>
            <a:endParaRPr lang="en-US" sz="700" dirty="0"/>
          </a:p>
        </p:txBody>
      </p:sp>
      <p:sp>
        <p:nvSpPr>
          <p:cNvPr id="15" name="Shape 11"/>
          <p:cNvSpPr/>
          <p:nvPr/>
        </p:nvSpPr>
        <p:spPr>
          <a:xfrm>
            <a:off x="2907792" y="822960"/>
            <a:ext cx="2743200" cy="1261872"/>
          </a:xfrm>
          <a:prstGeom prst="rect">
            <a:avLst/>
          </a:prstGeom>
          <a:solidFill>
            <a:srgbClr val="1A3452"/>
          </a:solidFill>
          <a:ln w="12700">
            <a:solidFill>
              <a:srgbClr val="2E7D9C"/>
            </a:solidFill>
            <a:prstDash val="solid"/>
          </a:ln>
        </p:spPr>
      </p:sp>
      <p:sp>
        <p:nvSpPr>
          <p:cNvPr id="16" name="Shape 12"/>
          <p:cNvSpPr/>
          <p:nvPr/>
        </p:nvSpPr>
        <p:spPr>
          <a:xfrm>
            <a:off x="2907792" y="822960"/>
            <a:ext cx="2743200" cy="64008"/>
          </a:xfrm>
          <a:prstGeom prst="rect">
            <a:avLst/>
          </a:prstGeom>
          <a:solidFill>
            <a:srgbClr val="2E7D9C"/>
          </a:solidFill>
          <a:ln w="12700">
            <a:solidFill>
              <a:srgbClr val="2E7D9C"/>
            </a:solidFill>
            <a:prstDash val="solid"/>
          </a:ln>
        </p:spPr>
      </p:sp>
      <p:sp>
        <p:nvSpPr>
          <p:cNvPr id="17" name="Text 13"/>
          <p:cNvSpPr/>
          <p:nvPr/>
        </p:nvSpPr>
        <p:spPr>
          <a:xfrm>
            <a:off x="3017520" y="859536"/>
            <a:ext cx="2606040" cy="237744"/>
          </a:xfrm>
          <a:prstGeom prst="rect">
            <a:avLst/>
          </a:prstGeom>
          <a:noFill/>
          <a:ln/>
        </p:spPr>
        <p:txBody>
          <a:bodyPr wrap="square" lIns="0" tIns="0" rIns="0" bIns="0" rtlCol="0" anchor="ctr"/>
          <a:lstStyle/>
          <a:p>
            <a:pPr marL="0" indent="0">
              <a:buNone/>
            </a:pPr>
            <a:r>
              <a:rPr lang="en-US" sz="850" b="1" dirty="0">
                <a:solidFill>
                  <a:srgbClr val="2E7D9C"/>
                </a:solidFill>
                <a:latin typeface="Calibri" pitchFamily="34" charset="0"/>
                <a:ea typeface="Calibri" pitchFamily="34" charset="-122"/>
                <a:cs typeface="Calibri" pitchFamily="34" charset="-120"/>
              </a:rPr>
              <a:t>STAKEHOLDER INTERACTION</a:t>
            </a:r>
            <a:endParaRPr lang="en-US" sz="850" dirty="0"/>
          </a:p>
        </p:txBody>
      </p:sp>
      <p:sp>
        <p:nvSpPr>
          <p:cNvPr id="18" name="Text 14"/>
          <p:cNvSpPr/>
          <p:nvPr/>
        </p:nvSpPr>
        <p:spPr>
          <a:xfrm>
            <a:off x="3017520" y="1124712"/>
            <a:ext cx="2578608" cy="914400"/>
          </a:xfrm>
          <a:prstGeom prst="rect">
            <a:avLst/>
          </a:prstGeom>
          <a:noFill/>
          <a:ln/>
        </p:spPr>
        <p:txBody>
          <a:bodyPr wrap="square" rtlCol="0" anchor="ctr"/>
          <a:lstStyle/>
          <a:p>
            <a:pPr marL="0" indent="0">
              <a:lnSpc>
                <a:spcPct val="125000"/>
              </a:lnSpc>
              <a:buNone/>
            </a:pPr>
            <a:r>
              <a:rPr lang="en-US" sz="820" b="1" dirty="0">
                <a:solidFill>
                  <a:srgbClr val="FFFFFF"/>
                </a:solidFill>
                <a:latin typeface="Calibri" pitchFamily="34" charset="0"/>
                <a:ea typeface="Calibri" pitchFamily="34" charset="-122"/>
                <a:cs typeface="Calibri" pitchFamily="34" charset="-120"/>
              </a:rPr>
              <a:t>Expert: </a:t>
            </a:r>
            <a:r>
              <a:rPr lang="en-US" sz="820" dirty="0">
                <a:solidFill>
                  <a:srgbClr val="C8D8E8"/>
                </a:solidFill>
                <a:latin typeface="Calibri" pitchFamily="34" charset="0"/>
                <a:ea typeface="Calibri" pitchFamily="34" charset="-122"/>
                <a:cs typeface="Calibri" pitchFamily="34" charset="-120"/>
              </a:rPr>
              <a:t>Mr. Devansh Shah, Founder — Mobilane</a:t>
            </a:r>
            <a:endParaRPr lang="en-US" sz="820" dirty="0"/>
          </a:p>
          <a:p>
            <a:pPr marL="0" indent="0">
              <a:lnSpc>
                <a:spcPct val="125000"/>
              </a:lnSpc>
              <a:buNone/>
            </a:pPr>
            <a:r>
              <a:rPr lang="en-US" sz="820" b="1" dirty="0">
                <a:solidFill>
                  <a:srgbClr val="FFFFFF"/>
                </a:solidFill>
                <a:latin typeface="Calibri" pitchFamily="34" charset="0"/>
                <a:ea typeface="Calibri" pitchFamily="34" charset="-122"/>
                <a:cs typeface="Calibri" pitchFamily="34" charset="-120"/>
              </a:rPr>
              <a:t>Focus: </a:t>
            </a:r>
            <a:r>
              <a:rPr lang="en-US" sz="820" dirty="0">
                <a:solidFill>
                  <a:srgbClr val="C8D8E8"/>
                </a:solidFill>
                <a:latin typeface="Calibri" pitchFamily="34" charset="0"/>
                <a:ea typeface="Calibri" pitchFamily="34" charset="-122"/>
                <a:cs typeface="Calibri" pitchFamily="34" charset="-120"/>
              </a:rPr>
              <a:t>EV charging deployment barriers</a:t>
            </a:r>
            <a:endParaRPr lang="en-US" sz="820" dirty="0"/>
          </a:p>
          <a:p>
            <a:pPr marL="0" indent="0">
              <a:lnSpc>
                <a:spcPct val="125000"/>
              </a:lnSpc>
              <a:buNone/>
            </a:pPr>
            <a:r>
              <a:rPr lang="en-US" sz="820" b="1" dirty="0">
                <a:solidFill>
                  <a:srgbClr val="FFFFFF"/>
                </a:solidFill>
                <a:latin typeface="Calibri" pitchFamily="34" charset="0"/>
                <a:ea typeface="Calibri" pitchFamily="34" charset="-122"/>
                <a:cs typeface="Calibri" pitchFamily="34" charset="-120"/>
              </a:rPr>
              <a:t>Finding: </a:t>
            </a:r>
            <a:r>
              <a:rPr lang="en-US" sz="820" dirty="0">
                <a:solidFill>
                  <a:srgbClr val="C8D8E8"/>
                </a:solidFill>
                <a:latin typeface="Calibri" pitchFamily="34" charset="0"/>
                <a:ea typeface="Calibri" pitchFamily="34" charset="-122"/>
                <a:cs typeface="Calibri" pitchFamily="34" charset="-120"/>
              </a:rPr>
              <a:t>Delays are primarily administrative, not technical</a:t>
            </a:r>
            <a:endParaRPr lang="en-US" sz="820" dirty="0"/>
          </a:p>
        </p:txBody>
      </p:sp>
      <p:sp>
        <p:nvSpPr>
          <p:cNvPr id="19" name="Shape 15"/>
          <p:cNvSpPr/>
          <p:nvPr/>
        </p:nvSpPr>
        <p:spPr>
          <a:xfrm>
            <a:off x="2907792" y="2167128"/>
            <a:ext cx="2743200" cy="2633472"/>
          </a:xfrm>
          <a:prstGeom prst="rect">
            <a:avLst/>
          </a:prstGeom>
          <a:solidFill>
            <a:srgbClr val="F2F5F8"/>
          </a:solidFill>
          <a:ln w="6350">
            <a:solidFill>
              <a:srgbClr val="D0D8E0"/>
            </a:solidFill>
            <a:prstDash val="solid"/>
          </a:ln>
        </p:spPr>
      </p:sp>
      <p:sp>
        <p:nvSpPr>
          <p:cNvPr id="20" name="Shape 16"/>
          <p:cNvSpPr/>
          <p:nvPr/>
        </p:nvSpPr>
        <p:spPr>
          <a:xfrm>
            <a:off x="2907792" y="2167128"/>
            <a:ext cx="2743200" cy="64008"/>
          </a:xfrm>
          <a:prstGeom prst="rect">
            <a:avLst/>
          </a:prstGeom>
          <a:solidFill>
            <a:srgbClr val="C0622A"/>
          </a:solidFill>
          <a:ln w="12700">
            <a:solidFill>
              <a:srgbClr val="C0622A"/>
            </a:solidFill>
            <a:prstDash val="solid"/>
          </a:ln>
        </p:spPr>
      </p:sp>
      <p:sp>
        <p:nvSpPr>
          <p:cNvPr id="21" name="Text 17"/>
          <p:cNvSpPr/>
          <p:nvPr/>
        </p:nvSpPr>
        <p:spPr>
          <a:xfrm>
            <a:off x="3017520" y="2212848"/>
            <a:ext cx="2606040" cy="228600"/>
          </a:xfrm>
          <a:prstGeom prst="rect">
            <a:avLst/>
          </a:prstGeom>
          <a:noFill/>
          <a:ln/>
        </p:spPr>
        <p:txBody>
          <a:bodyPr wrap="square" lIns="0" tIns="0" rIns="0" bIns="0" rtlCol="0" anchor="ctr"/>
          <a:lstStyle/>
          <a:p>
            <a:pPr marL="0" indent="0">
              <a:buNone/>
            </a:pPr>
            <a:r>
              <a:rPr lang="en-US" sz="850" b="1" dirty="0">
                <a:solidFill>
                  <a:srgbClr val="C0622A"/>
                </a:solidFill>
                <a:latin typeface="Calibri" pitchFamily="34" charset="0"/>
                <a:ea typeface="Calibri" pitchFamily="34" charset="-122"/>
                <a:cs typeface="Calibri" pitchFamily="34" charset="-120"/>
              </a:rPr>
              <a:t>KEY INSIGHTS FROM FOUNDER</a:t>
            </a:r>
            <a:endParaRPr lang="en-US" sz="850" dirty="0"/>
          </a:p>
        </p:txBody>
      </p:sp>
      <p:sp>
        <p:nvSpPr>
          <p:cNvPr id="22" name="Shape 18"/>
          <p:cNvSpPr/>
          <p:nvPr/>
        </p:nvSpPr>
        <p:spPr>
          <a:xfrm>
            <a:off x="2999232" y="2514600"/>
            <a:ext cx="54864" cy="347472"/>
          </a:xfrm>
          <a:prstGeom prst="rect">
            <a:avLst/>
          </a:prstGeom>
          <a:solidFill>
            <a:srgbClr val="8B2A2A"/>
          </a:solidFill>
          <a:ln w="12700">
            <a:solidFill>
              <a:srgbClr val="8B2A2A"/>
            </a:solidFill>
            <a:prstDash val="solid"/>
          </a:ln>
        </p:spPr>
      </p:sp>
      <p:sp>
        <p:nvSpPr>
          <p:cNvPr id="23" name="Text 19"/>
          <p:cNvSpPr/>
          <p:nvPr/>
        </p:nvSpPr>
        <p:spPr>
          <a:xfrm>
            <a:off x="3108960" y="2514600"/>
            <a:ext cx="2450592" cy="347472"/>
          </a:xfrm>
          <a:prstGeom prst="rect">
            <a:avLst/>
          </a:prstGeom>
          <a:noFill/>
          <a:ln/>
        </p:spPr>
        <p:txBody>
          <a:bodyPr wrap="square" rtlCol="0" anchor="ctr"/>
          <a:lstStyle/>
          <a:p>
            <a:pPr marL="0" indent="0">
              <a:buNone/>
            </a:pPr>
            <a:r>
              <a:rPr lang="en-US" sz="800" dirty="0">
                <a:solidFill>
                  <a:srgbClr val="1C2A3A"/>
                </a:solidFill>
                <a:latin typeface="Calibri" pitchFamily="34" charset="0"/>
                <a:ea typeface="Calibri" pitchFamily="34" charset="-122"/>
                <a:cs typeface="Calibri" pitchFamily="34" charset="-120"/>
              </a:rPr>
              <a:t>Multi-agency approvals create major unpredictability in timelines</a:t>
            </a:r>
            <a:endParaRPr lang="en-US" sz="800" dirty="0"/>
          </a:p>
        </p:txBody>
      </p:sp>
      <p:sp>
        <p:nvSpPr>
          <p:cNvPr id="24" name="Shape 20"/>
          <p:cNvSpPr/>
          <p:nvPr/>
        </p:nvSpPr>
        <p:spPr>
          <a:xfrm>
            <a:off x="2999232" y="3008376"/>
            <a:ext cx="54864" cy="347472"/>
          </a:xfrm>
          <a:prstGeom prst="rect">
            <a:avLst/>
          </a:prstGeom>
          <a:solidFill>
            <a:srgbClr val="C0622A"/>
          </a:solidFill>
          <a:ln w="12700">
            <a:solidFill>
              <a:srgbClr val="C0622A"/>
            </a:solidFill>
            <a:prstDash val="solid"/>
          </a:ln>
        </p:spPr>
      </p:sp>
      <p:sp>
        <p:nvSpPr>
          <p:cNvPr id="25" name="Text 21"/>
          <p:cNvSpPr/>
          <p:nvPr/>
        </p:nvSpPr>
        <p:spPr>
          <a:xfrm>
            <a:off x="3108960" y="3008376"/>
            <a:ext cx="2450592" cy="347472"/>
          </a:xfrm>
          <a:prstGeom prst="rect">
            <a:avLst/>
          </a:prstGeom>
          <a:noFill/>
          <a:ln/>
        </p:spPr>
        <p:txBody>
          <a:bodyPr wrap="square" rtlCol="0" anchor="ctr"/>
          <a:lstStyle/>
          <a:p>
            <a:pPr marL="0" indent="0">
              <a:buNone/>
            </a:pPr>
            <a:r>
              <a:rPr lang="en-US" sz="800" dirty="0">
                <a:solidFill>
                  <a:srgbClr val="1C2A3A"/>
                </a:solidFill>
                <a:latin typeface="Calibri" pitchFamily="34" charset="0"/>
                <a:ea typeface="Calibri" pitchFamily="34" charset="-122"/>
                <a:cs typeface="Calibri" pitchFamily="34" charset="-120"/>
              </a:rPr>
              <a:t>DISCOM coordination &amp; transformer upgrades are critical bottlenecks</a:t>
            </a:r>
            <a:endParaRPr lang="en-US" sz="800" dirty="0"/>
          </a:p>
        </p:txBody>
      </p:sp>
      <p:sp>
        <p:nvSpPr>
          <p:cNvPr id="26" name="Shape 22"/>
          <p:cNvSpPr/>
          <p:nvPr/>
        </p:nvSpPr>
        <p:spPr>
          <a:xfrm>
            <a:off x="2999232" y="3502152"/>
            <a:ext cx="54864" cy="347472"/>
          </a:xfrm>
          <a:prstGeom prst="rect">
            <a:avLst/>
          </a:prstGeom>
          <a:solidFill>
            <a:srgbClr val="2E7D9C"/>
          </a:solidFill>
          <a:ln w="12700">
            <a:solidFill>
              <a:srgbClr val="2E7D9C"/>
            </a:solidFill>
            <a:prstDash val="solid"/>
          </a:ln>
        </p:spPr>
      </p:sp>
      <p:sp>
        <p:nvSpPr>
          <p:cNvPr id="27" name="Text 23"/>
          <p:cNvSpPr/>
          <p:nvPr/>
        </p:nvSpPr>
        <p:spPr>
          <a:xfrm>
            <a:off x="3108960" y="3502152"/>
            <a:ext cx="2450592" cy="347472"/>
          </a:xfrm>
          <a:prstGeom prst="rect">
            <a:avLst/>
          </a:prstGeom>
          <a:noFill/>
          <a:ln/>
        </p:spPr>
        <p:txBody>
          <a:bodyPr wrap="square" rtlCol="0" anchor="ctr"/>
          <a:lstStyle/>
          <a:p>
            <a:pPr marL="0" indent="0">
              <a:buNone/>
            </a:pPr>
            <a:r>
              <a:rPr lang="en-US" sz="800" dirty="0">
                <a:solidFill>
                  <a:srgbClr val="1C2A3A"/>
                </a:solidFill>
                <a:latin typeface="Calibri" pitchFamily="34" charset="0"/>
                <a:ea typeface="Calibri" pitchFamily="34" charset="-122"/>
                <a:cs typeface="Calibri" pitchFamily="34" charset="-120"/>
              </a:rPr>
              <a:t>Lack of standardisation across cities increases process variation</a:t>
            </a:r>
            <a:endParaRPr lang="en-US" sz="800" dirty="0"/>
          </a:p>
        </p:txBody>
      </p:sp>
      <p:sp>
        <p:nvSpPr>
          <p:cNvPr id="28" name="Shape 24"/>
          <p:cNvSpPr/>
          <p:nvPr/>
        </p:nvSpPr>
        <p:spPr>
          <a:xfrm>
            <a:off x="2999232" y="3995928"/>
            <a:ext cx="54864" cy="347472"/>
          </a:xfrm>
          <a:prstGeom prst="rect">
            <a:avLst/>
          </a:prstGeom>
          <a:solidFill>
            <a:srgbClr val="5A7F9A"/>
          </a:solidFill>
          <a:ln w="12700">
            <a:solidFill>
              <a:srgbClr val="5A7F9A"/>
            </a:solidFill>
            <a:prstDash val="solid"/>
          </a:ln>
        </p:spPr>
      </p:sp>
      <p:sp>
        <p:nvSpPr>
          <p:cNvPr id="29" name="Text 25"/>
          <p:cNvSpPr/>
          <p:nvPr/>
        </p:nvSpPr>
        <p:spPr>
          <a:xfrm>
            <a:off x="3108960" y="3995928"/>
            <a:ext cx="2450592" cy="347472"/>
          </a:xfrm>
          <a:prstGeom prst="rect">
            <a:avLst/>
          </a:prstGeom>
          <a:noFill/>
          <a:ln/>
        </p:spPr>
        <p:txBody>
          <a:bodyPr wrap="square" rtlCol="0" anchor="ctr"/>
          <a:lstStyle/>
          <a:p>
            <a:pPr marL="0" indent="0">
              <a:buNone/>
            </a:pPr>
            <a:r>
              <a:rPr lang="en-US" sz="800" dirty="0">
                <a:solidFill>
                  <a:srgbClr val="1C2A3A"/>
                </a:solidFill>
                <a:latin typeface="Calibri" pitchFamily="34" charset="0"/>
                <a:ea typeface="Calibri" pitchFamily="34" charset="-122"/>
                <a:cs typeface="Calibri" pitchFamily="34" charset="-120"/>
              </a:rPr>
              <a:t>Site selection without grid visibility leads to structural delays</a:t>
            </a:r>
            <a:endParaRPr lang="en-US" sz="800" dirty="0"/>
          </a:p>
        </p:txBody>
      </p:sp>
      <p:sp>
        <p:nvSpPr>
          <p:cNvPr id="30" name="Shape 26"/>
          <p:cNvSpPr/>
          <p:nvPr/>
        </p:nvSpPr>
        <p:spPr>
          <a:xfrm>
            <a:off x="5788152" y="822960"/>
            <a:ext cx="3246120" cy="2468880"/>
          </a:xfrm>
          <a:prstGeom prst="rect">
            <a:avLst/>
          </a:prstGeom>
          <a:solidFill>
            <a:srgbClr val="F2F5F8"/>
          </a:solidFill>
          <a:ln w="6350">
            <a:solidFill>
              <a:srgbClr val="D0D8E0"/>
            </a:solidFill>
            <a:prstDash val="solid"/>
          </a:ln>
        </p:spPr>
      </p:sp>
      <p:sp>
        <p:nvSpPr>
          <p:cNvPr id="31" name="Shape 27"/>
          <p:cNvSpPr/>
          <p:nvPr/>
        </p:nvSpPr>
        <p:spPr>
          <a:xfrm>
            <a:off x="5788152" y="822960"/>
            <a:ext cx="3246120" cy="64008"/>
          </a:xfrm>
          <a:prstGeom prst="rect">
            <a:avLst/>
          </a:prstGeom>
          <a:solidFill>
            <a:srgbClr val="C8952A"/>
          </a:solidFill>
          <a:ln w="12700">
            <a:solidFill>
              <a:srgbClr val="C8952A"/>
            </a:solidFill>
            <a:prstDash val="solid"/>
          </a:ln>
        </p:spPr>
      </p:sp>
      <p:sp>
        <p:nvSpPr>
          <p:cNvPr id="32" name="Text 28"/>
          <p:cNvSpPr/>
          <p:nvPr/>
        </p:nvSpPr>
        <p:spPr>
          <a:xfrm>
            <a:off x="5897880" y="868680"/>
            <a:ext cx="3108960" cy="237744"/>
          </a:xfrm>
          <a:prstGeom prst="rect">
            <a:avLst/>
          </a:prstGeom>
          <a:noFill/>
          <a:ln/>
        </p:spPr>
        <p:txBody>
          <a:bodyPr wrap="square" lIns="0" tIns="0" rIns="0" bIns="0" rtlCol="0" anchor="ctr"/>
          <a:lstStyle/>
          <a:p>
            <a:pPr marL="0" indent="0">
              <a:buNone/>
            </a:pPr>
            <a:r>
              <a:rPr lang="en-US" sz="850" b="1" dirty="0">
                <a:solidFill>
                  <a:srgbClr val="C8952A"/>
                </a:solidFill>
                <a:latin typeface="Calibri" pitchFamily="34" charset="0"/>
                <a:ea typeface="Calibri" pitchFamily="34" charset="-122"/>
                <a:cs typeface="Calibri" pitchFamily="34" charset="-120"/>
              </a:rPr>
              <a:t>ALIGNMENT WITH OUR ANALYSIS</a:t>
            </a:r>
            <a:endParaRPr lang="en-US" sz="850" dirty="0"/>
          </a:p>
        </p:txBody>
      </p:sp>
      <p:sp>
        <p:nvSpPr>
          <p:cNvPr id="33" name="Text 29"/>
          <p:cNvSpPr/>
          <p:nvPr/>
        </p:nvSpPr>
        <p:spPr>
          <a:xfrm>
            <a:off x="5897880" y="1143000"/>
            <a:ext cx="3081528" cy="201168"/>
          </a:xfrm>
          <a:prstGeom prst="rect">
            <a:avLst/>
          </a:prstGeom>
          <a:noFill/>
          <a:ln/>
        </p:spPr>
        <p:txBody>
          <a:bodyPr wrap="square" rtlCol="0" anchor="ctr"/>
          <a:lstStyle/>
          <a:p>
            <a:pPr marL="0" indent="0">
              <a:buNone/>
            </a:pPr>
            <a:r>
              <a:rPr lang="en-US" sz="850" dirty="0">
                <a:solidFill>
                  <a:srgbClr val="2A3A4A"/>
                </a:solidFill>
                <a:latin typeface="Calibri" pitchFamily="34" charset="0"/>
                <a:ea typeface="Calibri" pitchFamily="34" charset="-122"/>
                <a:cs typeface="Calibri" pitchFamily="34" charset="-120"/>
              </a:rPr>
              <a:t>Strong validation of identified root causes:</a:t>
            </a:r>
            <a:endParaRPr lang="en-US" sz="850" dirty="0"/>
          </a:p>
        </p:txBody>
      </p:sp>
      <p:sp>
        <p:nvSpPr>
          <p:cNvPr id="34" name="Shape 30"/>
          <p:cNvSpPr/>
          <p:nvPr/>
        </p:nvSpPr>
        <p:spPr>
          <a:xfrm>
            <a:off x="5879592" y="1389888"/>
            <a:ext cx="3044952" cy="502920"/>
          </a:xfrm>
          <a:prstGeom prst="rect">
            <a:avLst/>
          </a:prstGeom>
          <a:solidFill>
            <a:srgbClr val="E8F0F8"/>
          </a:solidFill>
          <a:ln w="9525">
            <a:solidFill>
              <a:srgbClr val="2E7D9C"/>
            </a:solidFill>
            <a:prstDash val="solid"/>
          </a:ln>
        </p:spPr>
      </p:sp>
      <p:sp>
        <p:nvSpPr>
          <p:cNvPr id="35" name="Shape 31"/>
          <p:cNvSpPr/>
          <p:nvPr/>
        </p:nvSpPr>
        <p:spPr>
          <a:xfrm>
            <a:off x="5879592" y="1389888"/>
            <a:ext cx="64008" cy="502920"/>
          </a:xfrm>
          <a:prstGeom prst="rect">
            <a:avLst/>
          </a:prstGeom>
          <a:solidFill>
            <a:srgbClr val="2E7D9C"/>
          </a:solidFill>
          <a:ln w="12700">
            <a:solidFill>
              <a:srgbClr val="2E7D9C"/>
            </a:solidFill>
            <a:prstDash val="solid"/>
          </a:ln>
        </p:spPr>
      </p:sp>
      <p:sp>
        <p:nvSpPr>
          <p:cNvPr id="36" name="Text 32"/>
          <p:cNvSpPr/>
          <p:nvPr/>
        </p:nvSpPr>
        <p:spPr>
          <a:xfrm>
            <a:off x="6007608" y="1389888"/>
            <a:ext cx="2898648" cy="502920"/>
          </a:xfrm>
          <a:prstGeom prst="rect">
            <a:avLst/>
          </a:prstGeom>
          <a:noFill/>
          <a:ln/>
        </p:spPr>
        <p:txBody>
          <a:bodyPr wrap="square" rtlCol="0" anchor="ctr"/>
          <a:lstStyle/>
          <a:p>
            <a:pPr marL="0" indent="0">
              <a:buNone/>
            </a:pPr>
            <a:r>
              <a:rPr lang="en-US" sz="800" b="1" dirty="0">
                <a:solidFill>
                  <a:srgbClr val="1E6E8E"/>
                </a:solidFill>
                <a:latin typeface="Calibri" pitchFamily="34" charset="0"/>
                <a:ea typeface="Calibri" pitchFamily="34" charset="-122"/>
                <a:cs typeface="Calibri" pitchFamily="34" charset="-120"/>
              </a:rPr>
              <a:t>x₂ — DISCOM Grid Constraints</a:t>
            </a:r>
            <a:endParaRPr lang="en-US" sz="800" dirty="0"/>
          </a:p>
          <a:p>
            <a:pPr marL="0" indent="0">
              <a:buNone/>
            </a:pPr>
            <a:r>
              <a:rPr lang="en-US" sz="800" dirty="0">
                <a:solidFill>
                  <a:srgbClr val="3A4A5A"/>
                </a:solidFill>
                <a:latin typeface="Calibri" pitchFamily="34" charset="0"/>
                <a:ea typeface="Calibri" pitchFamily="34" charset="-122"/>
                <a:cs typeface="Calibri" pitchFamily="34" charset="-120"/>
              </a:rPr>
              <a:t>Grid availability &amp; transformer upgrades confirmed as #1 bottleneck</a:t>
            </a:r>
            <a:endParaRPr lang="en-US" sz="800" dirty="0"/>
          </a:p>
        </p:txBody>
      </p:sp>
      <p:sp>
        <p:nvSpPr>
          <p:cNvPr id="37" name="Shape 33"/>
          <p:cNvSpPr/>
          <p:nvPr/>
        </p:nvSpPr>
        <p:spPr>
          <a:xfrm>
            <a:off x="5879592" y="1956816"/>
            <a:ext cx="3044952" cy="502920"/>
          </a:xfrm>
          <a:prstGeom prst="rect">
            <a:avLst/>
          </a:prstGeom>
          <a:solidFill>
            <a:srgbClr val="E8F0F8"/>
          </a:solidFill>
          <a:ln w="9525">
            <a:solidFill>
              <a:srgbClr val="2E7D9C"/>
            </a:solidFill>
            <a:prstDash val="solid"/>
          </a:ln>
        </p:spPr>
      </p:sp>
      <p:sp>
        <p:nvSpPr>
          <p:cNvPr id="38" name="Shape 34"/>
          <p:cNvSpPr/>
          <p:nvPr/>
        </p:nvSpPr>
        <p:spPr>
          <a:xfrm>
            <a:off x="5879592" y="1956816"/>
            <a:ext cx="64008" cy="502920"/>
          </a:xfrm>
          <a:prstGeom prst="rect">
            <a:avLst/>
          </a:prstGeom>
          <a:solidFill>
            <a:srgbClr val="2E7D9C"/>
          </a:solidFill>
          <a:ln w="12700">
            <a:solidFill>
              <a:srgbClr val="2E7D9C"/>
            </a:solidFill>
            <a:prstDash val="solid"/>
          </a:ln>
        </p:spPr>
      </p:sp>
      <p:sp>
        <p:nvSpPr>
          <p:cNvPr id="39" name="Text 35"/>
          <p:cNvSpPr/>
          <p:nvPr/>
        </p:nvSpPr>
        <p:spPr>
          <a:xfrm>
            <a:off x="6007608" y="1956816"/>
            <a:ext cx="2898648" cy="502920"/>
          </a:xfrm>
          <a:prstGeom prst="rect">
            <a:avLst/>
          </a:prstGeom>
          <a:noFill/>
          <a:ln/>
        </p:spPr>
        <p:txBody>
          <a:bodyPr wrap="square" rtlCol="0" anchor="ctr"/>
          <a:lstStyle/>
          <a:p>
            <a:pPr marL="0" indent="0">
              <a:buNone/>
            </a:pPr>
            <a:r>
              <a:rPr lang="en-US" sz="800" b="1" dirty="0">
                <a:solidFill>
                  <a:srgbClr val="1E6E8E"/>
                </a:solidFill>
                <a:latin typeface="Calibri" pitchFamily="34" charset="0"/>
                <a:ea typeface="Calibri" pitchFamily="34" charset="-122"/>
                <a:cs typeface="Calibri" pitchFamily="34" charset="-120"/>
              </a:rPr>
              <a:t>x₄ — Municipal Approval Delays</a:t>
            </a:r>
            <a:endParaRPr lang="en-US" sz="800" dirty="0"/>
          </a:p>
          <a:p>
            <a:pPr marL="0" indent="0">
              <a:buNone/>
            </a:pPr>
            <a:r>
              <a:rPr lang="en-US" sz="800" dirty="0">
                <a:solidFill>
                  <a:srgbClr val="3A4A5A"/>
                </a:solidFill>
                <a:latin typeface="Calibri" pitchFamily="34" charset="0"/>
                <a:ea typeface="Calibri" pitchFamily="34" charset="-122"/>
                <a:cs typeface="Calibri" pitchFamily="34" charset="-120"/>
              </a:rPr>
              <a:t>Multi-agency sign-off delays validated; process variation confirmed</a:t>
            </a:r>
            <a:endParaRPr lang="en-US" sz="800" dirty="0"/>
          </a:p>
        </p:txBody>
      </p:sp>
      <p:sp>
        <p:nvSpPr>
          <p:cNvPr id="40" name="Text 36"/>
          <p:cNvSpPr/>
          <p:nvPr/>
        </p:nvSpPr>
        <p:spPr>
          <a:xfrm>
            <a:off x="5897880" y="2560320"/>
            <a:ext cx="3063240" cy="621792"/>
          </a:xfrm>
          <a:prstGeom prst="rect">
            <a:avLst/>
          </a:prstGeom>
          <a:noFill/>
          <a:ln/>
        </p:spPr>
        <p:txBody>
          <a:bodyPr wrap="square" rtlCol="0" anchor="ctr"/>
          <a:lstStyle/>
          <a:p>
            <a:pPr marL="0" indent="0">
              <a:lnSpc>
                <a:spcPct val="130000"/>
              </a:lnSpc>
              <a:buNone/>
            </a:pPr>
            <a:r>
              <a:rPr lang="en-US" sz="820" b="1" dirty="0">
                <a:solidFill>
                  <a:srgbClr val="2A3A4A"/>
                </a:solidFill>
                <a:latin typeface="Calibri" pitchFamily="34" charset="0"/>
                <a:ea typeface="Calibri" pitchFamily="34" charset="-122"/>
                <a:cs typeface="Calibri" pitchFamily="34" charset="-120"/>
              </a:rPr>
              <a:t>Pareto finding confirmed: </a:t>
            </a:r>
            <a:r>
              <a:rPr lang="en-US" sz="820" dirty="0">
                <a:solidFill>
                  <a:srgbClr val="2A3A4A"/>
                </a:solidFill>
                <a:latin typeface="Calibri" pitchFamily="34" charset="0"/>
                <a:ea typeface="Calibri" pitchFamily="34" charset="-122"/>
                <a:cs typeface="Calibri" pitchFamily="34" charset="-120"/>
              </a:rPr>
              <a:t>majority of delays are administrative</a:t>
            </a:r>
            <a:endParaRPr lang="en-US" sz="820" dirty="0"/>
          </a:p>
          <a:p>
            <a:pPr marL="0" indent="0">
              <a:lnSpc>
                <a:spcPct val="130000"/>
              </a:lnSpc>
              <a:buNone/>
            </a:pPr>
            <a:r>
              <a:rPr lang="en-US" sz="820" b="1" dirty="0">
                <a:solidFill>
                  <a:srgbClr val="2A3A4A"/>
                </a:solidFill>
                <a:latin typeface="Calibri" pitchFamily="34" charset="0"/>
                <a:ea typeface="Calibri" pitchFamily="34" charset="-122"/>
                <a:cs typeface="Calibri" pitchFamily="34" charset="-120"/>
              </a:rPr>
              <a:t>Regression result supported: </a:t>
            </a:r>
            <a:r>
              <a:rPr lang="en-US" sz="820" dirty="0">
                <a:solidFill>
                  <a:srgbClr val="2A3A4A"/>
                </a:solidFill>
                <a:latin typeface="Calibri" pitchFamily="34" charset="0"/>
                <a:ea typeface="Calibri" pitchFamily="34" charset="-122"/>
                <a:cs typeface="Calibri" pitchFamily="34" charset="-120"/>
              </a:rPr>
              <a:t>high correlation with approval timelines</a:t>
            </a:r>
            <a:endParaRPr lang="en-US" sz="820" dirty="0"/>
          </a:p>
        </p:txBody>
      </p:sp>
      <p:sp>
        <p:nvSpPr>
          <p:cNvPr id="41" name="Shape 37"/>
          <p:cNvSpPr/>
          <p:nvPr/>
        </p:nvSpPr>
        <p:spPr>
          <a:xfrm>
            <a:off x="5788152" y="3364992"/>
            <a:ext cx="3246120" cy="1417320"/>
          </a:xfrm>
          <a:prstGeom prst="rect">
            <a:avLst/>
          </a:prstGeom>
          <a:solidFill>
            <a:srgbClr val="12223A"/>
          </a:solidFill>
          <a:ln w="12700">
            <a:solidFill>
              <a:srgbClr val="C8952A"/>
            </a:solidFill>
            <a:prstDash val="solid"/>
          </a:ln>
        </p:spPr>
      </p:sp>
      <p:sp>
        <p:nvSpPr>
          <p:cNvPr id="42" name="Shape 38"/>
          <p:cNvSpPr/>
          <p:nvPr/>
        </p:nvSpPr>
        <p:spPr>
          <a:xfrm>
            <a:off x="5788152" y="3364992"/>
            <a:ext cx="3246120" cy="64008"/>
          </a:xfrm>
          <a:prstGeom prst="rect">
            <a:avLst/>
          </a:prstGeom>
          <a:solidFill>
            <a:srgbClr val="C8952A"/>
          </a:solidFill>
          <a:ln w="12700">
            <a:solidFill>
              <a:srgbClr val="C8952A"/>
            </a:solidFill>
            <a:prstDash val="solid"/>
          </a:ln>
        </p:spPr>
      </p:sp>
      <p:sp>
        <p:nvSpPr>
          <p:cNvPr id="43" name="Text 39"/>
          <p:cNvSpPr/>
          <p:nvPr/>
        </p:nvSpPr>
        <p:spPr>
          <a:xfrm>
            <a:off x="5897880" y="3419856"/>
            <a:ext cx="3108960" cy="237744"/>
          </a:xfrm>
          <a:prstGeom prst="rect">
            <a:avLst/>
          </a:prstGeom>
          <a:noFill/>
          <a:ln/>
        </p:spPr>
        <p:txBody>
          <a:bodyPr wrap="square" lIns="0" tIns="0" rIns="0" bIns="0" rtlCol="0" anchor="ctr"/>
          <a:lstStyle/>
          <a:p>
            <a:pPr marL="0" indent="0">
              <a:buNone/>
            </a:pPr>
            <a:r>
              <a:rPr lang="en-US" sz="850" b="1" dirty="0">
                <a:solidFill>
                  <a:srgbClr val="C8952A"/>
                </a:solidFill>
                <a:latin typeface="Calibri" pitchFamily="34" charset="0"/>
                <a:ea typeface="Calibri" pitchFamily="34" charset="-122"/>
                <a:cs typeface="Calibri" pitchFamily="34" charset="-120"/>
              </a:rPr>
              <a:t>STRATEGIC TAKEAWAY</a:t>
            </a:r>
            <a:endParaRPr lang="en-US" sz="850" dirty="0"/>
          </a:p>
        </p:txBody>
      </p:sp>
      <p:sp>
        <p:nvSpPr>
          <p:cNvPr id="44" name="Shape 40"/>
          <p:cNvSpPr/>
          <p:nvPr/>
        </p:nvSpPr>
        <p:spPr>
          <a:xfrm>
            <a:off x="5907024" y="3776472"/>
            <a:ext cx="118872" cy="118872"/>
          </a:xfrm>
          <a:prstGeom prst="ellipse">
            <a:avLst/>
          </a:prstGeom>
          <a:solidFill>
            <a:srgbClr val="C8952A"/>
          </a:solidFill>
          <a:ln w="12700">
            <a:solidFill>
              <a:srgbClr val="C8952A"/>
            </a:solidFill>
            <a:prstDash val="solid"/>
          </a:ln>
        </p:spPr>
      </p:sp>
      <p:sp>
        <p:nvSpPr>
          <p:cNvPr id="45" name="Text 41"/>
          <p:cNvSpPr/>
          <p:nvPr/>
        </p:nvSpPr>
        <p:spPr>
          <a:xfrm>
            <a:off x="6089904" y="3712464"/>
            <a:ext cx="2834640" cy="274320"/>
          </a:xfrm>
          <a:prstGeom prst="rect">
            <a:avLst/>
          </a:prstGeom>
          <a:noFill/>
          <a:ln/>
        </p:spPr>
        <p:txBody>
          <a:bodyPr wrap="square" rtlCol="0" anchor="ctr"/>
          <a:lstStyle/>
          <a:p>
            <a:pPr marL="0" indent="0">
              <a:buNone/>
            </a:pPr>
            <a:r>
              <a:rPr lang="en-US" sz="850" dirty="0">
                <a:solidFill>
                  <a:srgbClr val="FFFFFF"/>
                </a:solidFill>
                <a:latin typeface="Calibri" pitchFamily="34" charset="0"/>
                <a:ea typeface="Calibri" pitchFamily="34" charset="-122"/>
                <a:cs typeface="Calibri" pitchFamily="34" charset="-120"/>
              </a:rPr>
              <a:t>Pre-validated grid availability essential (LT focus)</a:t>
            </a:r>
            <a:endParaRPr lang="en-US" sz="850" dirty="0"/>
          </a:p>
        </p:txBody>
      </p:sp>
      <p:sp>
        <p:nvSpPr>
          <p:cNvPr id="46" name="Shape 42"/>
          <p:cNvSpPr/>
          <p:nvPr/>
        </p:nvSpPr>
        <p:spPr>
          <a:xfrm>
            <a:off x="5907024" y="4114800"/>
            <a:ext cx="118872" cy="118872"/>
          </a:xfrm>
          <a:prstGeom prst="ellipse">
            <a:avLst/>
          </a:prstGeom>
          <a:solidFill>
            <a:srgbClr val="C8952A"/>
          </a:solidFill>
          <a:ln w="12700">
            <a:solidFill>
              <a:srgbClr val="C8952A"/>
            </a:solidFill>
            <a:prstDash val="solid"/>
          </a:ln>
        </p:spPr>
      </p:sp>
      <p:sp>
        <p:nvSpPr>
          <p:cNvPr id="47" name="Text 43"/>
          <p:cNvSpPr/>
          <p:nvPr/>
        </p:nvSpPr>
        <p:spPr>
          <a:xfrm>
            <a:off x="6089904" y="4050792"/>
            <a:ext cx="2834640" cy="274320"/>
          </a:xfrm>
          <a:prstGeom prst="rect">
            <a:avLst/>
          </a:prstGeom>
          <a:noFill/>
          <a:ln/>
        </p:spPr>
        <p:txBody>
          <a:bodyPr wrap="square" rtlCol="0" anchor="ctr"/>
          <a:lstStyle/>
          <a:p>
            <a:pPr marL="0" indent="0">
              <a:buNone/>
            </a:pPr>
            <a:r>
              <a:rPr lang="en-US" sz="850" dirty="0">
                <a:solidFill>
                  <a:srgbClr val="FFFFFF"/>
                </a:solidFill>
                <a:latin typeface="Calibri" pitchFamily="34" charset="0"/>
                <a:ea typeface="Calibri" pitchFamily="34" charset="-122"/>
                <a:cs typeface="Calibri" pitchFamily="34" charset="-120"/>
              </a:rPr>
              <a:t>Single-window clearance system recommended</a:t>
            </a:r>
            <a:endParaRPr lang="en-US" sz="850" dirty="0"/>
          </a:p>
        </p:txBody>
      </p:sp>
      <p:sp>
        <p:nvSpPr>
          <p:cNvPr id="48" name="Shape 44"/>
          <p:cNvSpPr/>
          <p:nvPr/>
        </p:nvSpPr>
        <p:spPr>
          <a:xfrm>
            <a:off x="5907024" y="4453128"/>
            <a:ext cx="118872" cy="118872"/>
          </a:xfrm>
          <a:prstGeom prst="ellipse">
            <a:avLst/>
          </a:prstGeom>
          <a:solidFill>
            <a:srgbClr val="C8952A"/>
          </a:solidFill>
          <a:ln w="12700">
            <a:solidFill>
              <a:srgbClr val="C8952A"/>
            </a:solidFill>
            <a:prstDash val="solid"/>
          </a:ln>
        </p:spPr>
      </p:sp>
      <p:sp>
        <p:nvSpPr>
          <p:cNvPr id="49" name="Text 45"/>
          <p:cNvSpPr/>
          <p:nvPr/>
        </p:nvSpPr>
        <p:spPr>
          <a:xfrm>
            <a:off x="6089904" y="4389120"/>
            <a:ext cx="2834640" cy="274320"/>
          </a:xfrm>
          <a:prstGeom prst="rect">
            <a:avLst/>
          </a:prstGeom>
          <a:noFill/>
          <a:ln/>
        </p:spPr>
        <p:txBody>
          <a:bodyPr wrap="square" rtlCol="0" anchor="ctr"/>
          <a:lstStyle/>
          <a:p>
            <a:pPr marL="0" indent="0">
              <a:buNone/>
            </a:pPr>
            <a:r>
              <a:rPr lang="en-US" sz="850" dirty="0">
                <a:solidFill>
                  <a:srgbClr val="FFFFFF"/>
                </a:solidFill>
                <a:latin typeface="Calibri" pitchFamily="34" charset="0"/>
                <a:ea typeface="Calibri" pitchFamily="34" charset="-122"/>
                <a:cs typeface="Calibri" pitchFamily="34" charset="-120"/>
              </a:rPr>
              <a:t>Strengthens Improve Phase solution direction</a:t>
            </a:r>
            <a:endParaRPr lang="en-US" sz="850" dirty="0"/>
          </a:p>
        </p:txBody>
      </p:sp>
    </p:spTree>
    <p:extLst>
      <p:ext uri="{BB962C8B-B14F-4D97-AF65-F5344CB8AC3E}">
        <p14:creationId xmlns:p14="http://schemas.microsoft.com/office/powerpoint/2010/main" val="6981070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TotalTime>
  <Words>1529</Words>
  <Application>Microsoft Office PowerPoint</Application>
  <PresentationFormat>On-screen Show (16:9)</PresentationFormat>
  <Paragraphs>139</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MS491-XVI: Lean Six Sigma - Analyse Phase</dc:title>
  <dc:subject>PptxGenJS Presentation</dc:subject>
  <dc:creator>Team 1 | Sanidhya Bhandari</dc:creator>
  <cp:lastModifiedBy>aditya jain</cp:lastModifiedBy>
  <cp:revision>3</cp:revision>
  <dcterms:created xsi:type="dcterms:W3CDTF">2026-03-31T21:38:23Z</dcterms:created>
  <dcterms:modified xsi:type="dcterms:W3CDTF">2026-04-01T09:05:30Z</dcterms:modified>
</cp:coreProperties>
</file>